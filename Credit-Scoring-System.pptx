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svg"/><Relationship Id="rId12" Type="http://schemas.openxmlformats.org/officeDocument/2006/relationships/image" Target="../media/image-4-12.png"/><Relationship Id="rId13" Type="http://schemas.openxmlformats.org/officeDocument/2006/relationships/image" Target="../media/image-4-13.sv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sv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sv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sv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14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74865" y="68535"/>
            <a:ext cx="4800600" cy="48006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521" y="616223"/>
            <a:ext cx="4205288" cy="3705225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732086" y="1262435"/>
            <a:ext cx="1933575" cy="276225"/>
          </a:xfrm>
          <a:prstGeom prst="roundRect">
            <a:avLst>
              <a:gd name="adj" fmla="val 50000"/>
            </a:avLst>
          </a:prstGeom>
          <a:solidFill>
            <a:srgbClr val="14B8A6">
              <a:alpha val="10000"/>
            </a:srgbClr>
          </a:solidFill>
          <a:ln w="4763">
            <a:solidFill>
              <a:srgbClr val="14B8A6">
                <a:alpha val="25000"/>
              </a:srgbClr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826666" y="1376735"/>
            <a:ext cx="47625" cy="47625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Text 2"/>
          <p:cNvSpPr/>
          <p:nvPr/>
        </p:nvSpPr>
        <p:spPr>
          <a:xfrm>
            <a:off x="923553" y="1316757"/>
            <a:ext cx="219767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15"/>
              </a:spcAft>
              <a:buNone/>
            </a:pPr>
            <a:r>
              <a:rPr lang="en-US" sz="1080" b="1" spc="54" kern="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 OVERVIEW</a:t>
            </a:r>
            <a:endParaRPr lang="en-US" sz="1080" dirty="0"/>
          </a:p>
        </p:txBody>
      </p:sp>
      <p:sp>
        <p:nvSpPr>
          <p:cNvPr id="8" name="Text 3"/>
          <p:cNvSpPr/>
          <p:nvPr/>
        </p:nvSpPr>
        <p:spPr>
          <a:xfrm>
            <a:off x="731490" y="1617018"/>
            <a:ext cx="4288192" cy="666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30" b="1" spc="-202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Credit Scoring</a:t>
            </a:r>
            <a:endParaRPr lang="en-US" sz="4030" dirty="0"/>
          </a:p>
        </p:txBody>
      </p:sp>
      <p:sp>
        <p:nvSpPr>
          <p:cNvPr id="9" name="Text 4"/>
          <p:cNvSpPr/>
          <p:nvPr/>
        </p:nvSpPr>
        <p:spPr>
          <a:xfrm>
            <a:off x="731490" y="2139255"/>
            <a:ext cx="2296158" cy="666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30" b="1" spc="-202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</a:t>
            </a:r>
            <a:endParaRPr lang="en-US" sz="4030" dirty="0"/>
          </a:p>
        </p:txBody>
      </p:sp>
      <p:sp>
        <p:nvSpPr>
          <p:cNvPr id="10" name="Text 5"/>
          <p:cNvSpPr/>
          <p:nvPr/>
        </p:nvSpPr>
        <p:spPr>
          <a:xfrm>
            <a:off x="731490" y="2875806"/>
            <a:ext cx="4072659" cy="404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9"/>
              </a:lnSpc>
              <a:buNone/>
            </a:pPr>
            <a:r>
              <a:rPr lang="en-US" sz="122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Decentralized On-Chain Credit Scoring on</a:t>
            </a:r>
            <a:endParaRPr lang="en-US" sz="1220" dirty="0"/>
          </a:p>
          <a:p>
            <a:pPr algn="l" indent="0" marL="0">
              <a:lnSpc>
                <a:spcPts val="1689"/>
              </a:lnSpc>
              <a:buNone/>
            </a:pPr>
            <a:r>
              <a:rPr lang="en-US" sz="122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Stellar Soroban</a:t>
            </a:r>
            <a:endParaRPr lang="en-US" sz="1220" dirty="0"/>
          </a:p>
        </p:txBody>
      </p:sp>
      <p:sp>
        <p:nvSpPr>
          <p:cNvPr id="11" name="Shape 6"/>
          <p:cNvSpPr/>
          <p:nvPr/>
        </p:nvSpPr>
        <p:spPr>
          <a:xfrm>
            <a:off x="731007" y="3501628"/>
            <a:ext cx="366712" cy="1905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12" name="Text 7"/>
          <p:cNvSpPr/>
          <p:nvPr/>
        </p:nvSpPr>
        <p:spPr>
          <a:xfrm>
            <a:off x="731490" y="3694733"/>
            <a:ext cx="162837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</a:t>
            </a:r>
            <a:pPr algn="l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Ankit Patel</a:t>
            </a:r>
            <a:endParaRPr lang="en-US" sz="1080" dirty="0"/>
          </a:p>
        </p:txBody>
      </p:sp>
      <p:sp>
        <p:nvSpPr>
          <p:cNvPr id="13" name="Text 8"/>
          <p:cNvSpPr/>
          <p:nvPr/>
        </p:nvSpPr>
        <p:spPr>
          <a:xfrm>
            <a:off x="457200" y="224730"/>
            <a:ext cx="205692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08" kern="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STELLAR SOROBAN</a:t>
            </a:r>
            <a:endParaRPr lang="en-US" sz="1080" dirty="0"/>
          </a:p>
        </p:txBody>
      </p:sp>
      <p:sp>
        <p:nvSpPr>
          <p:cNvPr id="14" name="Text 9"/>
          <p:cNvSpPr/>
          <p:nvPr/>
        </p:nvSpPr>
        <p:spPr>
          <a:xfrm>
            <a:off x="8347918" y="224730"/>
            <a:ext cx="49769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080" dirty="0"/>
          </a:p>
        </p:txBody>
      </p:sp>
      <p:sp>
        <p:nvSpPr>
          <p:cNvPr id="15" name="Shape 10"/>
          <p:cNvSpPr/>
          <p:nvPr/>
        </p:nvSpPr>
        <p:spPr>
          <a:xfrm>
            <a:off x="457200" y="4624015"/>
            <a:ext cx="8229600" cy="314325"/>
          </a:xfrm>
          <a:prstGeom prst="rect">
            <a:avLst/>
          </a:prstGeom>
          <a:ln/>
        </p:spPr>
      </p:sp>
      <p:sp>
        <p:nvSpPr>
          <p:cNvPr id="16" name="Text 11"/>
          <p:cNvSpPr/>
          <p:nvPr/>
        </p:nvSpPr>
        <p:spPr>
          <a:xfrm>
            <a:off x="457200" y="4751189"/>
            <a:ext cx="194180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Scoring System</a:t>
            </a:r>
            <a:endParaRPr lang="en-US" sz="1080" dirty="0"/>
          </a:p>
        </p:txBody>
      </p:sp>
      <p:sp>
        <p:nvSpPr>
          <p:cNvPr id="17" name="Text 12"/>
          <p:cNvSpPr/>
          <p:nvPr/>
        </p:nvSpPr>
        <p:spPr>
          <a:xfrm>
            <a:off x="6681415" y="4751189"/>
            <a:ext cx="266415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my-credit-scoring-1.vercel.app</a:t>
            </a:r>
            <a:endParaRPr lang="en-US" sz="108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4624015"/>
            <a:ext cx="8229600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490" y="723900"/>
            <a:ext cx="5773415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40" b="1" spc="-109" kern="0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Credit System Is Broken</a:t>
            </a:r>
            <a:endParaRPr lang="en-US" sz="2740" dirty="0"/>
          </a:p>
        </p:txBody>
      </p:sp>
      <p:sp>
        <p:nvSpPr>
          <p:cNvPr id="4" name="Shape 1"/>
          <p:cNvSpPr/>
          <p:nvPr/>
        </p:nvSpPr>
        <p:spPr>
          <a:xfrm>
            <a:off x="731379" y="2000213"/>
            <a:ext cx="119062" cy="119062"/>
          </a:xfrm>
          <a:prstGeom prst="roundRect">
            <a:avLst>
              <a:gd name="adj" fmla="val 15360"/>
            </a:avLst>
          </a:prstGeom>
          <a:solidFill>
            <a:srgbClr val="14B8A6"/>
          </a:solidFill>
          <a:ln/>
        </p:spPr>
      </p:sp>
      <p:sp>
        <p:nvSpPr>
          <p:cNvPr id="5" name="Text 2"/>
          <p:cNvSpPr/>
          <p:nvPr/>
        </p:nvSpPr>
        <p:spPr>
          <a:xfrm>
            <a:off x="775097" y="2014389"/>
            <a:ext cx="98167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58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580" dirty="0"/>
          </a:p>
        </p:txBody>
      </p:sp>
      <p:sp>
        <p:nvSpPr>
          <p:cNvPr id="6" name="Text 3"/>
          <p:cNvSpPr/>
          <p:nvPr/>
        </p:nvSpPr>
        <p:spPr>
          <a:xfrm>
            <a:off x="969169" y="1979571"/>
            <a:ext cx="5071482" cy="381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45"/>
              </a:lnSpc>
              <a:buNone/>
            </a:pPr>
            <a:r>
              <a:rPr lang="en-US" sz="119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 billion people are "credit invisible" — no history, no</a:t>
            </a:r>
            <a:endParaRPr lang="en-US" sz="1190" dirty="0"/>
          </a:p>
          <a:p>
            <a:pPr algn="l" indent="0" marL="0">
              <a:lnSpc>
                <a:spcPts val="1545"/>
              </a:lnSpc>
              <a:buNone/>
            </a:pPr>
            <a:r>
              <a:rPr lang="en-US" sz="119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to loans</a:t>
            </a:r>
            <a:endParaRPr lang="en-US" sz="1190" dirty="0"/>
          </a:p>
        </p:txBody>
      </p:sp>
      <p:sp>
        <p:nvSpPr>
          <p:cNvPr id="7" name="Shape 4"/>
          <p:cNvSpPr/>
          <p:nvPr/>
        </p:nvSpPr>
        <p:spPr>
          <a:xfrm>
            <a:off x="731379" y="2577666"/>
            <a:ext cx="119062" cy="119062"/>
          </a:xfrm>
          <a:prstGeom prst="roundRect">
            <a:avLst>
              <a:gd name="adj" fmla="val 15360"/>
            </a:avLst>
          </a:prstGeom>
          <a:solidFill>
            <a:srgbClr val="14B8A6"/>
          </a:solidFill>
          <a:ln/>
        </p:spPr>
      </p:sp>
      <p:sp>
        <p:nvSpPr>
          <p:cNvPr id="8" name="Text 5"/>
          <p:cNvSpPr/>
          <p:nvPr/>
        </p:nvSpPr>
        <p:spPr>
          <a:xfrm>
            <a:off x="767804" y="2591842"/>
            <a:ext cx="117128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58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969169" y="2557024"/>
            <a:ext cx="5449825" cy="381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45"/>
              </a:lnSpc>
              <a:buNone/>
            </a:pPr>
            <a:r>
              <a:rPr lang="en-US" sz="119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bureaus (Equifax, Experian) — single points of</a:t>
            </a:r>
            <a:endParaRPr lang="en-US" sz="1190" dirty="0"/>
          </a:p>
          <a:p>
            <a:pPr algn="l" indent="0" marL="0">
              <a:lnSpc>
                <a:spcPts val="1545"/>
              </a:lnSpc>
              <a:buNone/>
            </a:pPr>
            <a:r>
              <a:rPr lang="en-US" sz="119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</a:t>
            </a:r>
            <a:endParaRPr lang="en-US" sz="1190" dirty="0"/>
          </a:p>
        </p:txBody>
      </p:sp>
      <p:sp>
        <p:nvSpPr>
          <p:cNvPr id="10" name="Shape 7"/>
          <p:cNvSpPr/>
          <p:nvPr/>
        </p:nvSpPr>
        <p:spPr>
          <a:xfrm>
            <a:off x="731379" y="3155119"/>
            <a:ext cx="119062" cy="119062"/>
          </a:xfrm>
          <a:prstGeom prst="roundRect">
            <a:avLst>
              <a:gd name="adj" fmla="val 15360"/>
            </a:avLst>
          </a:prstGeom>
          <a:solidFill>
            <a:srgbClr val="F97364"/>
          </a:solidFill>
          <a:ln/>
        </p:spPr>
      </p:sp>
      <p:sp>
        <p:nvSpPr>
          <p:cNvPr id="11" name="Text 8"/>
          <p:cNvSpPr/>
          <p:nvPr/>
        </p:nvSpPr>
        <p:spPr>
          <a:xfrm>
            <a:off x="767283" y="3169295"/>
            <a:ext cx="118579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58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580" dirty="0"/>
          </a:p>
        </p:txBody>
      </p:sp>
      <p:sp>
        <p:nvSpPr>
          <p:cNvPr id="12" name="Text 9"/>
          <p:cNvSpPr/>
          <p:nvPr/>
        </p:nvSpPr>
        <p:spPr>
          <a:xfrm>
            <a:off x="969169" y="3134477"/>
            <a:ext cx="5044008" cy="381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45"/>
              </a:lnSpc>
              <a:buNone/>
            </a:pPr>
            <a:r>
              <a:rPr lang="en-US" sz="119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Opaque algorithms — consumers can't see or dispute</a:t>
            </a:r>
            <a:endParaRPr lang="en-US" sz="1190" dirty="0"/>
          </a:p>
          <a:p>
            <a:pPr algn="l" indent="0" marL="0">
              <a:lnSpc>
                <a:spcPts val="1545"/>
              </a:lnSpc>
              <a:buNone/>
            </a:pPr>
            <a:r>
              <a:rPr lang="en-US" sz="119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scoring logic</a:t>
            </a:r>
            <a:endParaRPr lang="en-US" sz="1190" dirty="0"/>
          </a:p>
        </p:txBody>
      </p:sp>
      <p:sp>
        <p:nvSpPr>
          <p:cNvPr id="13" name="Shape 10"/>
          <p:cNvSpPr/>
          <p:nvPr/>
        </p:nvSpPr>
        <p:spPr>
          <a:xfrm>
            <a:off x="731379" y="3732572"/>
            <a:ext cx="119062" cy="119062"/>
          </a:xfrm>
          <a:prstGeom prst="roundRect">
            <a:avLst>
              <a:gd name="adj" fmla="val 15360"/>
            </a:avLst>
          </a:prstGeom>
          <a:solidFill>
            <a:srgbClr val="F97364"/>
          </a:solidFill>
          <a:ln/>
        </p:spPr>
      </p:sp>
      <p:sp>
        <p:nvSpPr>
          <p:cNvPr id="14" name="Text 11"/>
          <p:cNvSpPr/>
          <p:nvPr/>
        </p:nvSpPr>
        <p:spPr>
          <a:xfrm>
            <a:off x="766167" y="3746748"/>
            <a:ext cx="121481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58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580" dirty="0"/>
          </a:p>
        </p:txBody>
      </p:sp>
      <p:sp>
        <p:nvSpPr>
          <p:cNvPr id="15" name="Text 12"/>
          <p:cNvSpPr/>
          <p:nvPr/>
        </p:nvSpPr>
        <p:spPr>
          <a:xfrm>
            <a:off x="969169" y="3711930"/>
            <a:ext cx="4251722" cy="381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45"/>
              </a:lnSpc>
              <a:buNone/>
            </a:pPr>
            <a:r>
              <a:rPr lang="en-US" sz="119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 lends billions with zero credit checks —</a:t>
            </a:r>
            <a:endParaRPr lang="en-US" sz="1190" dirty="0"/>
          </a:p>
          <a:p>
            <a:pPr algn="l" indent="0" marL="0">
              <a:lnSpc>
                <a:spcPts val="1545"/>
              </a:lnSpc>
              <a:buNone/>
            </a:pPr>
            <a:r>
              <a:rPr lang="en-US" sz="119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over-collateralization is the only safeguard</a:t>
            </a:r>
            <a:endParaRPr lang="en-US" sz="1190" dirty="0"/>
          </a:p>
        </p:txBody>
      </p:sp>
      <p:sp>
        <p:nvSpPr>
          <p:cNvPr id="16" name="Shape 13"/>
          <p:cNvSpPr/>
          <p:nvPr/>
        </p:nvSpPr>
        <p:spPr>
          <a:xfrm>
            <a:off x="6217444" y="1443968"/>
            <a:ext cx="2195513" cy="3186113"/>
          </a:xfrm>
          <a:prstGeom prst="rect">
            <a:avLst/>
          </a:prstGeom>
          <a:ln/>
        </p:spPr>
      </p:sp>
      <p:sp>
        <p:nvSpPr>
          <p:cNvPr id="17" name="Shape 14"/>
          <p:cNvSpPr/>
          <p:nvPr/>
        </p:nvSpPr>
        <p:spPr>
          <a:xfrm>
            <a:off x="6587430" y="1855366"/>
            <a:ext cx="1647825" cy="1647825"/>
          </a:xfrm>
          <a:prstGeom prst="ellipse">
            <a:avLst/>
          </a:prstGeom>
          <a:ln w="4763">
            <a:solidFill>
              <a:srgbClr val="FA7364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63618" y="2011598"/>
            <a:ext cx="1095375" cy="1095375"/>
          </a:xfrm>
          <a:prstGeom prst="ellipse">
            <a:avLst/>
          </a:prstGeom>
          <a:ln w="4763">
            <a:solidFill>
              <a:srgbClr val="F77464">
                <a:alpha val="25098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8398" y="2222376"/>
            <a:ext cx="2246724" cy="37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b="1" spc="8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TRAPPED BY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b="1" spc="8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DISTRUST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6588398" y="2551807"/>
            <a:ext cx="2193905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5760" b="1" spc="-461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$50B</a:t>
            </a:r>
            <a:endParaRPr lang="en-US" sz="5760" dirty="0"/>
          </a:p>
        </p:txBody>
      </p:sp>
      <p:sp>
        <p:nvSpPr>
          <p:cNvPr id="21" name="Text 18"/>
          <p:cNvSpPr/>
          <p:nvPr/>
        </p:nvSpPr>
        <p:spPr>
          <a:xfrm>
            <a:off x="6588398" y="3505200"/>
            <a:ext cx="1994915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locked as unnecessary</a:t>
            </a:r>
            <a:endParaRPr lang="en-US" sz="1080" dirty="0"/>
          </a:p>
          <a:p>
            <a:pPr algn="l"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collateral in DeFi</a:t>
            </a:r>
            <a:endParaRPr lang="en-US" sz="108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7444" y="1443968"/>
            <a:ext cx="2195513" cy="3186113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57200" y="224730"/>
            <a:ext cx="195912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08" kern="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THE PROBLEM</a:t>
            </a:r>
            <a:endParaRPr lang="en-US" sz="1080" dirty="0"/>
          </a:p>
        </p:txBody>
      </p:sp>
      <p:sp>
        <p:nvSpPr>
          <p:cNvPr id="24" name="Text 20"/>
          <p:cNvSpPr/>
          <p:nvPr/>
        </p:nvSpPr>
        <p:spPr>
          <a:xfrm>
            <a:off x="6483772" y="224730"/>
            <a:ext cx="292108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access is still permissioned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457200" y="4624015"/>
            <a:ext cx="8229600" cy="314325"/>
          </a:xfrm>
          <a:prstGeom prst="rect">
            <a:avLst/>
          </a:prstGeom>
          <a:ln/>
        </p:spPr>
      </p:sp>
      <p:sp>
        <p:nvSpPr>
          <p:cNvPr id="26" name="Text 22"/>
          <p:cNvSpPr/>
          <p:nvPr/>
        </p:nvSpPr>
        <p:spPr>
          <a:xfrm>
            <a:off x="457200" y="4751189"/>
            <a:ext cx="194180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Scoring System</a:t>
            </a:r>
            <a:endParaRPr lang="en-US" sz="1080" dirty="0"/>
          </a:p>
        </p:txBody>
      </p:sp>
      <p:sp>
        <p:nvSpPr>
          <p:cNvPr id="27" name="Text 23"/>
          <p:cNvSpPr/>
          <p:nvPr/>
        </p:nvSpPr>
        <p:spPr>
          <a:xfrm>
            <a:off x="8516615" y="4751189"/>
            <a:ext cx="27839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8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" y="4624015"/>
            <a:ext cx="8229600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490" y="728663"/>
            <a:ext cx="7705956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60" b="1" spc="-102" kern="0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Permissionless On-Chain Credit Scoring</a:t>
            </a:r>
            <a:endParaRPr lang="en-US" sz="2560" dirty="0"/>
          </a:p>
        </p:txBody>
      </p:sp>
      <p:sp>
        <p:nvSpPr>
          <p:cNvPr id="4" name="Shape 1"/>
          <p:cNvSpPr/>
          <p:nvPr/>
        </p:nvSpPr>
        <p:spPr>
          <a:xfrm>
            <a:off x="731007" y="1420937"/>
            <a:ext cx="2195513" cy="1028700"/>
          </a:xfrm>
          <a:prstGeom prst="roundRect">
            <a:avLst>
              <a:gd name="adj" fmla="val 8889"/>
            </a:avLst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274320" dist="137160" dir="5400000">
              <a:srgbClr val="000000">
                <a:alpha val="16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19088" y="1627584"/>
            <a:ext cx="126521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SUBMIT</a:t>
            </a:r>
            <a:endParaRPr lang="en-US" sz="1080" dirty="0"/>
          </a:p>
        </p:txBody>
      </p:sp>
      <p:sp>
        <p:nvSpPr>
          <p:cNvPr id="6" name="Text 3"/>
          <p:cNvSpPr/>
          <p:nvPr/>
        </p:nvSpPr>
        <p:spPr>
          <a:xfrm>
            <a:off x="919088" y="1795165"/>
            <a:ext cx="21336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Anyone submits a</a:t>
            </a:r>
            <a:endParaRPr lang="en-US" sz="1440" dirty="0"/>
          </a:p>
        </p:txBody>
      </p:sp>
      <p:sp>
        <p:nvSpPr>
          <p:cNvPr id="7" name="Text 4"/>
          <p:cNvSpPr/>
          <p:nvPr/>
        </p:nvSpPr>
        <p:spPr>
          <a:xfrm>
            <a:off x="919088" y="1996306"/>
            <a:ext cx="71110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score</a:t>
            </a:r>
            <a:endParaRPr lang="en-US" sz="1440" dirty="0"/>
          </a:p>
        </p:txBody>
      </p:sp>
      <p:sp>
        <p:nvSpPr>
          <p:cNvPr id="8" name="Text 5"/>
          <p:cNvSpPr/>
          <p:nvPr/>
        </p:nvSpPr>
        <p:spPr>
          <a:xfrm>
            <a:off x="919088" y="2235547"/>
            <a:ext cx="2306218" cy="37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wallet signs an evaluator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3085430" y="1753344"/>
            <a:ext cx="355975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2160" dirty="0"/>
          </a:p>
        </p:txBody>
      </p:sp>
      <p:sp>
        <p:nvSpPr>
          <p:cNvPr id="10" name="Shape 7"/>
          <p:cNvSpPr/>
          <p:nvPr/>
        </p:nvSpPr>
        <p:spPr>
          <a:xfrm>
            <a:off x="3474207" y="1420937"/>
            <a:ext cx="2195513" cy="1028700"/>
          </a:xfrm>
          <a:prstGeom prst="roundRect">
            <a:avLst>
              <a:gd name="adj" fmla="val 8889"/>
            </a:avLst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274320" dist="137160" dir="54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662288" y="1627584"/>
            <a:ext cx="145975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AVERAGE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3662288" y="1795165"/>
            <a:ext cx="189121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Scores average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3662288" y="1996306"/>
            <a:ext cx="69939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on-chain</a:t>
            </a:r>
            <a:endParaRPr lang="en-US" sz="1440" dirty="0"/>
          </a:p>
        </p:txBody>
      </p:sp>
      <p:sp>
        <p:nvSpPr>
          <p:cNvPr id="14" name="Text 11"/>
          <p:cNvSpPr/>
          <p:nvPr/>
        </p:nvSpPr>
        <p:spPr>
          <a:xfrm>
            <a:off x="3662288" y="2235547"/>
            <a:ext cx="2222927" cy="37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contract stores every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5828630" y="1753344"/>
            <a:ext cx="355975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2160" dirty="0"/>
          </a:p>
        </p:txBody>
      </p:sp>
      <p:sp>
        <p:nvSpPr>
          <p:cNvPr id="16" name="Shape 13"/>
          <p:cNvSpPr/>
          <p:nvPr/>
        </p:nvSpPr>
        <p:spPr>
          <a:xfrm>
            <a:off x="6217407" y="1420937"/>
            <a:ext cx="2195513" cy="1028700"/>
          </a:xfrm>
          <a:prstGeom prst="roundRect">
            <a:avLst>
              <a:gd name="adj" fmla="val 8889"/>
            </a:avLst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274320" dist="137160" dir="5400000">
              <a:srgbClr val="000000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05488" y="1627584"/>
            <a:ext cx="118976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TRUST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6405488" y="1795165"/>
            <a:ext cx="180898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3+ evaluators =</a:t>
            </a:r>
            <a:endParaRPr lang="en-US" sz="1440" dirty="0"/>
          </a:p>
        </p:txBody>
      </p:sp>
      <p:sp>
        <p:nvSpPr>
          <p:cNvPr id="19" name="Text 16"/>
          <p:cNvSpPr/>
          <p:nvPr/>
        </p:nvSpPr>
        <p:spPr>
          <a:xfrm>
            <a:off x="6405488" y="1996306"/>
            <a:ext cx="95285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Trusted</a:t>
            </a:r>
            <a:endParaRPr lang="en-US" sz="1440" dirty="0"/>
          </a:p>
        </p:txBody>
      </p:sp>
      <p:sp>
        <p:nvSpPr>
          <p:cNvPr id="20" name="Text 17"/>
          <p:cNvSpPr/>
          <p:nvPr/>
        </p:nvSpPr>
        <p:spPr>
          <a:xfrm>
            <a:off x="6405488" y="2235547"/>
            <a:ext cx="2262493" cy="37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signals make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score useful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731044" y="2808684"/>
            <a:ext cx="7681912" cy="1023937"/>
          </a:xfrm>
          <a:prstGeom prst="rect">
            <a:avLst/>
          </a:prstGeom>
          <a:ln/>
        </p:spPr>
      </p:sp>
      <p:sp>
        <p:nvSpPr>
          <p:cNvPr id="22" name="Shape 19"/>
          <p:cNvSpPr/>
          <p:nvPr/>
        </p:nvSpPr>
        <p:spPr>
          <a:xfrm>
            <a:off x="732532" y="3000524"/>
            <a:ext cx="61912" cy="6191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3" name="Text 20"/>
          <p:cNvSpPr/>
          <p:nvPr/>
        </p:nvSpPr>
        <p:spPr>
          <a:xfrm>
            <a:off x="905173" y="2968675"/>
            <a:ext cx="426197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admin, no gatekeeper — fully permissionless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4801381" y="3000524"/>
            <a:ext cx="47625" cy="61912"/>
          </a:xfrm>
          <a:prstGeom prst="roundRect">
            <a:avLst>
              <a:gd name="adj" fmla="val 50000"/>
            </a:avLst>
          </a:prstGeom>
          <a:solidFill>
            <a:srgbClr val="F5C45B"/>
          </a:solidFill>
          <a:ln/>
        </p:spPr>
      </p:sp>
      <p:sp>
        <p:nvSpPr>
          <p:cNvPr id="25" name="Text 22"/>
          <p:cNvSpPr/>
          <p:nvPr/>
        </p:nvSpPr>
        <p:spPr>
          <a:xfrm>
            <a:off x="4959474" y="2968675"/>
            <a:ext cx="437883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Anti-gaming built in — 3+ independent evaluators</a:t>
            </a: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4959474" y="3145854"/>
            <a:ext cx="15257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for trust</a:t>
            </a:r>
            <a:endParaRPr lang="en-US" sz="1120" dirty="0"/>
          </a:p>
        </p:txBody>
      </p:sp>
      <p:sp>
        <p:nvSpPr>
          <p:cNvPr id="27" name="Shape 24"/>
          <p:cNvSpPr/>
          <p:nvPr/>
        </p:nvSpPr>
        <p:spPr>
          <a:xfrm>
            <a:off x="731155" y="3509144"/>
            <a:ext cx="61912" cy="6191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8" name="Text 25"/>
          <p:cNvSpPr/>
          <p:nvPr/>
        </p:nvSpPr>
        <p:spPr>
          <a:xfrm>
            <a:off x="902419" y="3477295"/>
            <a:ext cx="404557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&amp; auditable — every score verifiable by</a:t>
            </a:r>
            <a:endParaRPr lang="en-US" sz="1120" dirty="0"/>
          </a:p>
        </p:txBody>
      </p:sp>
      <p:sp>
        <p:nvSpPr>
          <p:cNvPr id="29" name="Text 26"/>
          <p:cNvSpPr/>
          <p:nvPr/>
        </p:nvSpPr>
        <p:spPr>
          <a:xfrm>
            <a:off x="902419" y="3654475"/>
            <a:ext cx="6933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anyone</a:t>
            </a: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>
            <a:off x="4801642" y="3509144"/>
            <a:ext cx="61912" cy="61912"/>
          </a:xfrm>
          <a:prstGeom prst="ellipse">
            <a:avLst/>
          </a:prstGeom>
          <a:solidFill>
            <a:srgbClr val="F5C45B"/>
          </a:solidFill>
          <a:ln/>
        </p:spPr>
      </p:sp>
      <p:sp>
        <p:nvSpPr>
          <p:cNvPr id="31" name="Text 28"/>
          <p:cNvSpPr/>
          <p:nvPr/>
        </p:nvSpPr>
        <p:spPr>
          <a:xfrm>
            <a:off x="4974282" y="3477295"/>
            <a:ext cx="394061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~5s finality, &lt;$0.01 per transaction on Stellar</a:t>
            </a:r>
            <a:endParaRPr lang="en-US" sz="112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044" y="2808684"/>
            <a:ext cx="7681912" cy="1023937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457200" y="224730"/>
            <a:ext cx="207694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08" kern="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THE SOLUTION</a:t>
            </a:r>
            <a:endParaRPr lang="en-US" sz="1080" dirty="0"/>
          </a:p>
        </p:txBody>
      </p:sp>
      <p:sp>
        <p:nvSpPr>
          <p:cNvPr id="34" name="Text 30"/>
          <p:cNvSpPr/>
          <p:nvPr/>
        </p:nvSpPr>
        <p:spPr>
          <a:xfrm>
            <a:off x="7027366" y="224730"/>
            <a:ext cx="221441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Permissionless by default</a:t>
            </a:r>
            <a:endParaRPr lang="en-US" sz="1080" dirty="0"/>
          </a:p>
        </p:txBody>
      </p:sp>
      <p:sp>
        <p:nvSpPr>
          <p:cNvPr id="35" name="Shape 31"/>
          <p:cNvSpPr/>
          <p:nvPr/>
        </p:nvSpPr>
        <p:spPr>
          <a:xfrm>
            <a:off x="457200" y="4624015"/>
            <a:ext cx="8229600" cy="314325"/>
          </a:xfrm>
          <a:prstGeom prst="rect">
            <a:avLst/>
          </a:prstGeom>
          <a:ln/>
        </p:spPr>
      </p:sp>
      <p:sp>
        <p:nvSpPr>
          <p:cNvPr id="36" name="Text 32"/>
          <p:cNvSpPr/>
          <p:nvPr/>
        </p:nvSpPr>
        <p:spPr>
          <a:xfrm>
            <a:off x="457200" y="4751189"/>
            <a:ext cx="194180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Scoring System</a:t>
            </a:r>
            <a:endParaRPr lang="en-US" sz="1080" dirty="0"/>
          </a:p>
        </p:txBody>
      </p:sp>
      <p:sp>
        <p:nvSpPr>
          <p:cNvPr id="37" name="Text 33"/>
          <p:cNvSpPr/>
          <p:nvPr/>
        </p:nvSpPr>
        <p:spPr>
          <a:xfrm>
            <a:off x="8515499" y="4751189"/>
            <a:ext cx="27984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80" dirty="0"/>
          </a:p>
        </p:txBody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" y="4624015"/>
            <a:ext cx="8229600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490" y="723900"/>
            <a:ext cx="4133121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40" b="1" spc="-109" kern="0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DeFi Credit Gap</a:t>
            </a:r>
            <a:endParaRPr lang="en-US" sz="2740" dirty="0"/>
          </a:p>
        </p:txBody>
      </p:sp>
      <p:sp>
        <p:nvSpPr>
          <p:cNvPr id="4" name="Shape 1"/>
          <p:cNvSpPr/>
          <p:nvPr/>
        </p:nvSpPr>
        <p:spPr>
          <a:xfrm>
            <a:off x="730337" y="1443968"/>
            <a:ext cx="4281487" cy="3186113"/>
          </a:xfrm>
          <a:prstGeom prst="roundRect">
            <a:avLst>
              <a:gd name="adj" fmla="val 2870"/>
            </a:avLst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274320" dist="137160" dir="5400000">
              <a:srgbClr val="000000">
                <a:alpha val="1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5099" y="1448693"/>
            <a:ext cx="4271963" cy="361950"/>
          </a:xfrm>
          <a:prstGeom prst="rect">
            <a:avLst/>
          </a:prstGeom>
          <a:solidFill>
            <a:srgbClr val="FFFFFF">
              <a:alpha val="4314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873398" y="1543496"/>
            <a:ext cx="83521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4148472" y="1543496"/>
            <a:ext cx="72029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80" b="1" spc="8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735099" y="1808708"/>
            <a:ext cx="4271963" cy="361950"/>
          </a:xfrm>
          <a:prstGeom prst="rect">
            <a:avLst/>
          </a:prstGeom>
          <a:ln/>
        </p:spPr>
      </p:sp>
      <p:sp>
        <p:nvSpPr>
          <p:cNvPr id="9" name="Text 6"/>
          <p:cNvSpPr/>
          <p:nvPr/>
        </p:nvSpPr>
        <p:spPr>
          <a:xfrm>
            <a:off x="873398" y="1900014"/>
            <a:ext cx="21494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 Total Value Locked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3571719" y="1884983"/>
            <a:ext cx="129704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~$100 Billion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735099" y="2168723"/>
            <a:ext cx="4271963" cy="361950"/>
          </a:xfrm>
          <a:prstGeom prst="rect">
            <a:avLst/>
          </a:prstGeom>
          <a:ln/>
        </p:spPr>
      </p:sp>
      <p:sp>
        <p:nvSpPr>
          <p:cNvPr id="12" name="Text 9"/>
          <p:cNvSpPr/>
          <p:nvPr/>
        </p:nvSpPr>
        <p:spPr>
          <a:xfrm>
            <a:off x="873398" y="2260029"/>
            <a:ext cx="26179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Unnecessary collateral waste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3662072" y="2244998"/>
            <a:ext cx="120669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F9736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~$50 Billion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735099" y="2528739"/>
            <a:ext cx="4271963" cy="361950"/>
          </a:xfrm>
          <a:prstGeom prst="rect">
            <a:avLst/>
          </a:prstGeom>
          <a:ln/>
        </p:spPr>
      </p:sp>
      <p:sp>
        <p:nvSpPr>
          <p:cNvPr id="15" name="Text 12"/>
          <p:cNvSpPr/>
          <p:nvPr/>
        </p:nvSpPr>
        <p:spPr>
          <a:xfrm>
            <a:off x="873398" y="2620045"/>
            <a:ext cx="317386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 unlocked by credit scoring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3380467" y="2605013"/>
            <a:ext cx="148829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F5C4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$20–50 Billion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735099" y="2888754"/>
            <a:ext cx="4271963" cy="361950"/>
          </a:xfrm>
          <a:prstGeom prst="rect">
            <a:avLst/>
          </a:prstGeom>
          <a:ln/>
        </p:spPr>
      </p:sp>
      <p:sp>
        <p:nvSpPr>
          <p:cNvPr id="18" name="Text 15"/>
          <p:cNvSpPr/>
          <p:nvPr/>
        </p:nvSpPr>
        <p:spPr>
          <a:xfrm>
            <a:off x="873398" y="2980060"/>
            <a:ext cx="30330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Unbanked population addressable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3942033" y="2965028"/>
            <a:ext cx="92673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1.7 Billion</a:t>
            </a:r>
            <a:endParaRPr lang="en-US" sz="1220" dirty="0"/>
          </a:p>
        </p:txBody>
      </p:sp>
      <p:sp>
        <p:nvSpPr>
          <p:cNvPr id="20" name="Text 17"/>
          <p:cNvSpPr/>
          <p:nvPr/>
        </p:nvSpPr>
        <p:spPr>
          <a:xfrm>
            <a:off x="873398" y="3342456"/>
            <a:ext cx="20253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Stellar active accounts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3873929" y="3327425"/>
            <a:ext cx="9948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8+ Million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6674272" y="1546771"/>
            <a:ext cx="1647825" cy="1647825"/>
          </a:xfrm>
          <a:prstGeom prst="ellipse">
            <a:avLst/>
          </a:prstGeom>
          <a:ln w="4763">
            <a:solidFill>
              <a:srgbClr val="14B9A5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902872" y="1675358"/>
            <a:ext cx="1190625" cy="1190625"/>
          </a:xfrm>
          <a:prstGeom prst="ellipse">
            <a:avLst/>
          </a:prstGeom>
          <a:ln w="4763">
            <a:solidFill>
              <a:srgbClr val="14B7A7">
                <a:alpha val="25098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67871" y="1829693"/>
            <a:ext cx="258105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ADDRESSABLE FRONTIER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5467871" y="1982019"/>
            <a:ext cx="1112661" cy="714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4320" b="1" spc="-302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1.7B</a:t>
            </a:r>
            <a:endParaRPr lang="en-US" sz="4320" dirty="0"/>
          </a:p>
        </p:txBody>
      </p:sp>
      <p:sp>
        <p:nvSpPr>
          <p:cNvPr id="26" name="Text 23"/>
          <p:cNvSpPr/>
          <p:nvPr/>
        </p:nvSpPr>
        <p:spPr>
          <a:xfrm>
            <a:off x="5467871" y="2728764"/>
            <a:ext cx="1736623" cy="74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addressable</a:t>
            </a:r>
            <a:endParaRPr lang="en-US" sz="1080" dirty="0"/>
          </a:p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through a portable,</a:t>
            </a:r>
            <a:endParaRPr lang="en-US" sz="1080" dirty="0"/>
          </a:p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auditable reputation</a:t>
            </a:r>
            <a:endParaRPr lang="en-US" sz="1080" dirty="0"/>
          </a:p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5467871" y="3744367"/>
            <a:ext cx="1371600" cy="4763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5467871" y="3871020"/>
            <a:ext cx="3496680" cy="37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CAD5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Stellar gives the protocol low-cost global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CAD5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reach.</a:t>
            </a:r>
            <a:endParaRPr lang="en-US" sz="108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099" y="1448693"/>
            <a:ext cx="4271963" cy="361950"/>
          </a:xfrm>
          <a:prstGeom prst="rect">
            <a:avLst/>
          </a:prstGeom>
        </p:spPr>
      </p:pic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5099" y="1808708"/>
            <a:ext cx="4271963" cy="361950"/>
          </a:xfrm>
          <a:prstGeom prst="rect">
            <a:avLst/>
          </a:prstGeom>
        </p:spPr>
      </p:pic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5099" y="2168723"/>
            <a:ext cx="4271963" cy="361950"/>
          </a:xfrm>
          <a:prstGeom prst="rect">
            <a:avLst/>
          </a:prstGeom>
        </p:spPr>
      </p:pic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5099" y="2528739"/>
            <a:ext cx="4271963" cy="361950"/>
          </a:xfrm>
          <a:prstGeom prst="rect">
            <a:avLst/>
          </a:prstGeom>
        </p:spPr>
      </p:pic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5099" y="2888754"/>
            <a:ext cx="4271963" cy="36195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57200" y="224730"/>
            <a:ext cx="297961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08" kern="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MARKET OPPORTUNITY</a:t>
            </a:r>
            <a:endParaRPr lang="en-US" sz="1080" dirty="0"/>
          </a:p>
        </p:txBody>
      </p:sp>
      <p:sp>
        <p:nvSpPr>
          <p:cNvPr id="35" name="Text 27"/>
          <p:cNvSpPr/>
          <p:nvPr/>
        </p:nvSpPr>
        <p:spPr>
          <a:xfrm>
            <a:off x="6592119" y="224730"/>
            <a:ext cx="278023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credit gap inside open finance</a:t>
            </a:r>
            <a:endParaRPr lang="en-US" sz="1080" dirty="0"/>
          </a:p>
        </p:txBody>
      </p:sp>
      <p:sp>
        <p:nvSpPr>
          <p:cNvPr id="36" name="Shape 28"/>
          <p:cNvSpPr/>
          <p:nvPr/>
        </p:nvSpPr>
        <p:spPr>
          <a:xfrm>
            <a:off x="457200" y="4624015"/>
            <a:ext cx="8229600" cy="314325"/>
          </a:xfrm>
          <a:prstGeom prst="rect">
            <a:avLst/>
          </a:prstGeom>
          <a:ln/>
        </p:spPr>
      </p:sp>
      <p:sp>
        <p:nvSpPr>
          <p:cNvPr id="37" name="Text 29"/>
          <p:cNvSpPr/>
          <p:nvPr/>
        </p:nvSpPr>
        <p:spPr>
          <a:xfrm>
            <a:off x="457200" y="4751189"/>
            <a:ext cx="194180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Scoring System</a:t>
            </a:r>
            <a:endParaRPr lang="en-US" sz="1080" dirty="0"/>
          </a:p>
        </p:txBody>
      </p:sp>
      <p:sp>
        <p:nvSpPr>
          <p:cNvPr id="38" name="Text 30"/>
          <p:cNvSpPr/>
          <p:nvPr/>
        </p:nvSpPr>
        <p:spPr>
          <a:xfrm>
            <a:off x="8511629" y="4751189"/>
            <a:ext cx="28487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8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7200" y="4624015"/>
            <a:ext cx="8229600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490" y="723900"/>
            <a:ext cx="2718904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40" b="1" spc="-109" kern="0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It Works</a:t>
            </a:r>
            <a:endParaRPr lang="en-US" sz="2740" dirty="0"/>
          </a:p>
        </p:txBody>
      </p:sp>
      <p:sp>
        <p:nvSpPr>
          <p:cNvPr id="4" name="Shape 1"/>
          <p:cNvSpPr/>
          <p:nvPr/>
        </p:nvSpPr>
        <p:spPr>
          <a:xfrm>
            <a:off x="732420" y="1444414"/>
            <a:ext cx="4752975" cy="823913"/>
          </a:xfrm>
          <a:prstGeom prst="roundRect">
            <a:avLst>
              <a:gd name="adj" fmla="val 11098"/>
            </a:avLst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274320" dist="137160" dir="5400000">
              <a:srgbClr val="000000">
                <a:alpha val="16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010543" y="1469157"/>
            <a:ext cx="121075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CLIENT</a:t>
            </a:r>
            <a:endParaRPr lang="en-US" sz="1080" dirty="0"/>
          </a:p>
        </p:txBody>
      </p:sp>
      <p:sp>
        <p:nvSpPr>
          <p:cNvPr id="6" name="Text 3"/>
          <p:cNvSpPr/>
          <p:nvPr/>
        </p:nvSpPr>
        <p:spPr>
          <a:xfrm>
            <a:off x="1010543" y="1726257"/>
            <a:ext cx="112514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62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Browser</a:t>
            </a:r>
            <a:endParaRPr lang="en-US" sz="1620" dirty="0"/>
          </a:p>
        </p:txBody>
      </p:sp>
      <p:sp>
        <p:nvSpPr>
          <p:cNvPr id="7" name="Text 4"/>
          <p:cNvSpPr/>
          <p:nvPr/>
        </p:nvSpPr>
        <p:spPr>
          <a:xfrm>
            <a:off x="1010543" y="2075929"/>
            <a:ext cx="217668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"/>
              </a:spcBef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Next.js + Freighter Wallet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4566270" y="1602953"/>
            <a:ext cx="733425" cy="733425"/>
          </a:xfrm>
          <a:prstGeom prst="roundRect">
            <a:avLst>
              <a:gd name="adj" fmla="val 12468"/>
            </a:avLst>
          </a:prstGeom>
          <a:ln w="4763">
            <a:solidFill>
              <a:srgbClr val="14B7A7">
                <a:alpha val="25098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49589" y="1706352"/>
            <a:ext cx="366712" cy="366712"/>
          </a:xfrm>
          <a:prstGeom prst="roundRect">
            <a:avLst>
              <a:gd name="adj" fmla="val 14961"/>
            </a:avLst>
          </a:prstGeom>
          <a:solidFill>
            <a:srgbClr val="14B5A8">
              <a:alpha val="14902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3006998" y="2329755"/>
            <a:ext cx="322019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70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↓</a:t>
            </a:r>
            <a:endParaRPr lang="en-US" sz="1870" dirty="0"/>
          </a:p>
        </p:txBody>
      </p:sp>
      <p:sp>
        <p:nvSpPr>
          <p:cNvPr id="11" name="Shape 8"/>
          <p:cNvSpPr/>
          <p:nvPr/>
        </p:nvSpPr>
        <p:spPr>
          <a:xfrm>
            <a:off x="732420" y="2709602"/>
            <a:ext cx="4752975" cy="823913"/>
          </a:xfrm>
          <a:prstGeom prst="roundRect">
            <a:avLst>
              <a:gd name="adj" fmla="val 11098"/>
            </a:avLst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274320" dist="137160" dir="5400000">
              <a:srgbClr val="000000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010543" y="2734345"/>
            <a:ext cx="17539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TRANSPORT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1010543" y="2991445"/>
            <a:ext cx="249930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62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Soroban RPC Node</a:t>
            </a:r>
            <a:endParaRPr lang="en-US" sz="1620" dirty="0"/>
          </a:p>
        </p:txBody>
      </p:sp>
      <p:sp>
        <p:nvSpPr>
          <p:cNvPr id="14" name="Text 11"/>
          <p:cNvSpPr/>
          <p:nvPr/>
        </p:nvSpPr>
        <p:spPr>
          <a:xfrm>
            <a:off x="1010543" y="3341117"/>
            <a:ext cx="331732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"/>
              </a:spcBef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relay for signed contract calls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4474815" y="2973065"/>
            <a:ext cx="733425" cy="61912"/>
          </a:xfrm>
          <a:prstGeom prst="rect">
            <a:avLst/>
          </a:prstGeom>
          <a:solidFill>
            <a:srgbClr val="F5C35A">
              <a:alpha val="4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750073" y="3075905"/>
            <a:ext cx="457200" cy="61912"/>
          </a:xfrm>
          <a:prstGeom prst="rect">
            <a:avLst/>
          </a:prstGeom>
          <a:solidFill>
            <a:srgbClr val="F5C35A">
              <a:alpha val="2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3006998" y="3594943"/>
            <a:ext cx="322019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70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↓</a:t>
            </a:r>
            <a:endParaRPr lang="en-US" sz="1870" dirty="0"/>
          </a:p>
        </p:txBody>
      </p:sp>
      <p:sp>
        <p:nvSpPr>
          <p:cNvPr id="18" name="Shape 15"/>
          <p:cNvSpPr/>
          <p:nvPr/>
        </p:nvSpPr>
        <p:spPr>
          <a:xfrm>
            <a:off x="732420" y="3976204"/>
            <a:ext cx="4752975" cy="923925"/>
          </a:xfrm>
          <a:prstGeom prst="roundRect">
            <a:avLst>
              <a:gd name="adj" fmla="val 9897"/>
            </a:avLst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274320" dist="137160" dir="5400000">
              <a:srgbClr val="000000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1010543" y="4050953"/>
            <a:ext cx="186160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SETTLEMENT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1010543" y="4308053"/>
            <a:ext cx="209900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62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Smart Contract</a:t>
            </a:r>
            <a:endParaRPr lang="en-US" sz="1620" dirty="0"/>
          </a:p>
        </p:txBody>
      </p:sp>
      <p:sp>
        <p:nvSpPr>
          <p:cNvPr id="21" name="Text 18"/>
          <p:cNvSpPr/>
          <p:nvPr/>
        </p:nvSpPr>
        <p:spPr>
          <a:xfrm>
            <a:off x="1010543" y="4657725"/>
            <a:ext cx="275827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"/>
              </a:spcBef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Rust / WASM on Stellar Soroban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4474815" y="4184749"/>
            <a:ext cx="733425" cy="733425"/>
          </a:xfrm>
          <a:prstGeom prst="rect">
            <a:avLst/>
          </a:prstGeom>
          <a:ln w="4763">
            <a:solidFill>
              <a:srgbClr val="F97364">
                <a:alpha val="34902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4906" y="1779166"/>
            <a:ext cx="216391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SURFACE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6035464" y="2068413"/>
            <a:ext cx="2376487" cy="390525"/>
          </a:xfrm>
          <a:prstGeom prst="roundRect">
            <a:avLst>
              <a:gd name="adj" fmla="val 23415"/>
            </a:avLst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274320" dist="137160" dir="5400000">
              <a:srgbClr val="000000">
                <a:alpha val="1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195045" y="2179886"/>
            <a:ext cx="117583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submit_score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6035464" y="2525316"/>
            <a:ext cx="2376487" cy="390525"/>
          </a:xfrm>
          <a:prstGeom prst="roundRect">
            <a:avLst>
              <a:gd name="adj" fmla="val 23415"/>
            </a:avLst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274320" dist="137160" dir="5400000">
              <a:srgbClr val="000000">
                <a:alpha val="16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195045" y="2636788"/>
            <a:ext cx="164104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get_average_score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6035464" y="2982218"/>
            <a:ext cx="2376487" cy="390525"/>
          </a:xfrm>
          <a:prstGeom prst="roundRect">
            <a:avLst>
              <a:gd name="adj" fmla="val 23415"/>
            </a:avLst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274320" dist="137160" dir="5400000">
              <a:srgbClr val="000000">
                <a:alpha val="16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195045" y="3093690"/>
            <a:ext cx="174852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get_evaluator_count</a:t>
            </a:r>
            <a:endParaRPr lang="en-US" sz="1080" dirty="0"/>
          </a:p>
        </p:txBody>
      </p:sp>
      <p:sp>
        <p:nvSpPr>
          <p:cNvPr id="30" name="Shape 27"/>
          <p:cNvSpPr/>
          <p:nvPr/>
        </p:nvSpPr>
        <p:spPr>
          <a:xfrm>
            <a:off x="6035464" y="3629137"/>
            <a:ext cx="2376487" cy="957263"/>
          </a:xfrm>
          <a:prstGeom prst="rect">
            <a:avLst/>
          </a:prstGeom>
          <a:ln/>
        </p:spPr>
      </p:sp>
      <p:sp>
        <p:nvSpPr>
          <p:cNvPr id="31" name="Text 28"/>
          <p:cNvSpPr/>
          <p:nvPr/>
        </p:nvSpPr>
        <p:spPr>
          <a:xfrm>
            <a:off x="6034906" y="3782095"/>
            <a:ext cx="168525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NOTE</a:t>
            </a:r>
            <a:endParaRPr lang="en-US" sz="1080" dirty="0"/>
          </a:p>
        </p:txBody>
      </p:sp>
      <p:sp>
        <p:nvSpPr>
          <p:cNvPr id="32" name="Text 29"/>
          <p:cNvSpPr/>
          <p:nvPr/>
        </p:nvSpPr>
        <p:spPr>
          <a:xfrm>
            <a:off x="6034906" y="4035177"/>
            <a:ext cx="2164690" cy="536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evaluator.require_auth()</a:t>
            </a:r>
            <a:endParaRPr lang="en-US" sz="1080" dirty="0"/>
          </a:p>
          <a:p>
            <a:pPr algn="l"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only the signing wallet</a:t>
            </a:r>
            <a:endParaRPr lang="en-US" sz="1080" dirty="0"/>
          </a:p>
          <a:p>
            <a:pPr algn="l"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recorded</a:t>
            </a:r>
            <a:endParaRPr lang="en-US" sz="1080" dirty="0"/>
          </a:p>
        </p:txBody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35464" y="3629137"/>
            <a:ext cx="2376487" cy="957263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57200" y="224730"/>
            <a:ext cx="215414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08" kern="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ARCHITECTURE</a:t>
            </a:r>
            <a:endParaRPr lang="en-US" sz="1080" dirty="0"/>
          </a:p>
        </p:txBody>
      </p:sp>
      <p:sp>
        <p:nvSpPr>
          <p:cNvPr id="35" name="Text 31"/>
          <p:cNvSpPr/>
          <p:nvPr/>
        </p:nvSpPr>
        <p:spPr>
          <a:xfrm>
            <a:off x="6803380" y="224730"/>
            <a:ext cx="250559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thin client, a verifiable core</a:t>
            </a:r>
            <a:endParaRPr lang="en-US" sz="1080" dirty="0"/>
          </a:p>
        </p:txBody>
      </p:sp>
      <p:sp>
        <p:nvSpPr>
          <p:cNvPr id="36" name="Shape 32"/>
          <p:cNvSpPr/>
          <p:nvPr/>
        </p:nvSpPr>
        <p:spPr>
          <a:xfrm>
            <a:off x="457200" y="4624015"/>
            <a:ext cx="8229600" cy="314325"/>
          </a:xfrm>
          <a:prstGeom prst="rect">
            <a:avLst/>
          </a:prstGeom>
          <a:ln/>
        </p:spPr>
      </p:sp>
      <p:sp>
        <p:nvSpPr>
          <p:cNvPr id="37" name="Text 33"/>
          <p:cNvSpPr/>
          <p:nvPr/>
        </p:nvSpPr>
        <p:spPr>
          <a:xfrm>
            <a:off x="457200" y="4751189"/>
            <a:ext cx="194180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Scoring System</a:t>
            </a:r>
            <a:endParaRPr lang="en-US" sz="1080" dirty="0"/>
          </a:p>
        </p:txBody>
      </p:sp>
      <p:sp>
        <p:nvSpPr>
          <p:cNvPr id="38" name="Text 34"/>
          <p:cNvSpPr/>
          <p:nvPr/>
        </p:nvSpPr>
        <p:spPr>
          <a:xfrm>
            <a:off x="8518847" y="4751189"/>
            <a:ext cx="27548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8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" y="4624015"/>
            <a:ext cx="8229600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490" y="728663"/>
            <a:ext cx="7048329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10" b="1" spc="-96" kern="0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at my-credit-scoring-1.vercel.app</a:t>
            </a:r>
            <a:endParaRPr lang="en-US" sz="2410" dirty="0"/>
          </a:p>
        </p:txBody>
      </p:sp>
      <p:sp>
        <p:nvSpPr>
          <p:cNvPr id="4" name="Shape 1"/>
          <p:cNvSpPr/>
          <p:nvPr/>
        </p:nvSpPr>
        <p:spPr>
          <a:xfrm>
            <a:off x="731527" y="1299344"/>
            <a:ext cx="2171700" cy="1595437"/>
          </a:xfrm>
          <a:prstGeom prst="roundRect">
            <a:avLst>
              <a:gd name="adj" fmla="val 5731"/>
            </a:avLst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274320" dist="137160" dir="5400000">
              <a:srgbClr val="000000">
                <a:alpha val="16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91629" y="1477938"/>
            <a:ext cx="130962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LOOKUP</a:t>
            </a:r>
            <a:endParaRPr lang="en-US" sz="1080" dirty="0"/>
          </a:p>
        </p:txBody>
      </p:sp>
      <p:sp>
        <p:nvSpPr>
          <p:cNvPr id="6" name="Text 3"/>
          <p:cNvSpPr/>
          <p:nvPr/>
        </p:nvSpPr>
        <p:spPr>
          <a:xfrm>
            <a:off x="891629" y="1861021"/>
            <a:ext cx="128640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133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Lookup Tab</a:t>
            </a:r>
            <a:endParaRPr lang="en-US" sz="1330" dirty="0"/>
          </a:p>
        </p:txBody>
      </p:sp>
      <p:sp>
        <p:nvSpPr>
          <p:cNvPr id="7" name="Text 4"/>
          <p:cNvSpPr/>
          <p:nvPr/>
        </p:nvSpPr>
        <p:spPr>
          <a:xfrm>
            <a:off x="891629" y="2184499"/>
            <a:ext cx="2408277" cy="536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any address, see avg</a:t>
            </a:r>
            <a:endParaRPr lang="en-US" sz="1080" dirty="0"/>
          </a:p>
          <a:p>
            <a:pPr algn="l"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+ evaluator</a:t>
            </a:r>
            <a:endParaRPr lang="en-US" sz="1080" dirty="0"/>
          </a:p>
          <a:p>
            <a:pPr algn="l"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breakdown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3040447" y="1299344"/>
            <a:ext cx="2171700" cy="1595437"/>
          </a:xfrm>
          <a:prstGeom prst="roundRect">
            <a:avLst>
              <a:gd name="adj" fmla="val 5731"/>
            </a:avLst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274320" dist="137160" dir="5400000">
              <a:srgbClr val="000000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00549" y="1477938"/>
            <a:ext cx="130062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SUBMIT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3200549" y="1861021"/>
            <a:ext cx="126831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133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Submit Tab</a:t>
            </a:r>
            <a:endParaRPr lang="en-US" sz="1330" dirty="0"/>
          </a:p>
        </p:txBody>
      </p:sp>
      <p:sp>
        <p:nvSpPr>
          <p:cNvPr id="11" name="Text 8"/>
          <p:cNvSpPr/>
          <p:nvPr/>
        </p:nvSpPr>
        <p:spPr>
          <a:xfrm>
            <a:off x="3200549" y="2184499"/>
            <a:ext cx="2322567" cy="536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slider 0–1000,</a:t>
            </a:r>
            <a:endParaRPr lang="en-US" sz="1080" dirty="0"/>
          </a:p>
          <a:p>
            <a:pPr algn="l"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Freighter signing, on-chain</a:t>
            </a:r>
            <a:endParaRPr lang="en-US" sz="1080" dirty="0"/>
          </a:p>
          <a:p>
            <a:pPr algn="l"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~5s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731527" y="3033117"/>
            <a:ext cx="2171700" cy="1595437"/>
          </a:xfrm>
          <a:prstGeom prst="roundRect">
            <a:avLst>
              <a:gd name="adj" fmla="val 5731"/>
            </a:avLst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274320" dist="137160" dir="5400000">
              <a:srgbClr val="000000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91629" y="3211711"/>
            <a:ext cx="140887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HISTORY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891629" y="3687366"/>
            <a:ext cx="127392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133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History Tab</a:t>
            </a:r>
            <a:endParaRPr lang="en-US" sz="1330" dirty="0"/>
          </a:p>
        </p:txBody>
      </p:sp>
      <p:sp>
        <p:nvSpPr>
          <p:cNvPr id="15" name="Text 12"/>
          <p:cNvSpPr/>
          <p:nvPr/>
        </p:nvSpPr>
        <p:spPr>
          <a:xfrm>
            <a:off x="891629" y="4103415"/>
            <a:ext cx="2223604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evaluator list with</a:t>
            </a:r>
            <a:endParaRPr lang="en-US" sz="1080" dirty="0"/>
          </a:p>
          <a:p>
            <a:pPr algn="l"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timestamps, avg/min/max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3040447" y="3033117"/>
            <a:ext cx="2171700" cy="1595437"/>
          </a:xfrm>
          <a:prstGeom prst="roundRect">
            <a:avLst>
              <a:gd name="adj" fmla="val 5731"/>
            </a:avLst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274320" dist="137160" dir="5400000">
              <a:srgbClr val="000000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200549" y="3211711"/>
            <a:ext cx="188540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ONBOARDING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3200549" y="3594795"/>
            <a:ext cx="13310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133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Onboarding</a:t>
            </a:r>
            <a:endParaRPr lang="en-US" sz="1330" dirty="0"/>
          </a:p>
        </p:txBody>
      </p:sp>
      <p:sp>
        <p:nvSpPr>
          <p:cNvPr id="19" name="Text 16"/>
          <p:cNvSpPr/>
          <p:nvPr/>
        </p:nvSpPr>
        <p:spPr>
          <a:xfrm>
            <a:off x="3200549" y="3918272"/>
            <a:ext cx="1928359" cy="536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5-step guided setup +</a:t>
            </a:r>
            <a:endParaRPr lang="en-US" sz="1080" dirty="0"/>
          </a:p>
          <a:p>
            <a:pPr algn="l"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shareable Request</a:t>
            </a:r>
            <a:endParaRPr lang="en-US" sz="1080" dirty="0"/>
          </a:p>
          <a:p>
            <a:pPr algn="l"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links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5578376" y="1828056"/>
            <a:ext cx="2833687" cy="2271713"/>
          </a:xfrm>
          <a:prstGeom prst="roundRect">
            <a:avLst>
              <a:gd name="adj" fmla="val 4025"/>
            </a:avLst>
          </a:prstGeom>
          <a:solidFill>
            <a:srgbClr val="090D18"/>
          </a:solidFill>
          <a:ln w="4763">
            <a:solidFill>
              <a:srgbClr val="FFFFFF">
                <a:alpha val="14902"/>
              </a:srgbClr>
            </a:solidFill>
            <a:prstDash val="solid"/>
          </a:ln>
          <a:effectLst>
            <a:outerShdw sx="100000" sy="100000" kx="0" ky="0" algn="bl" rotWithShape="0" blurRad="365760" dist="182880" dir="540000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674252" y="1947314"/>
            <a:ext cx="52388" cy="52388"/>
          </a:xfrm>
          <a:prstGeom prst="ellipse">
            <a:avLst/>
          </a:prstGeom>
          <a:solidFill>
            <a:srgbClr val="F97364"/>
          </a:solidFill>
          <a:ln/>
        </p:spPr>
      </p:sp>
      <p:sp>
        <p:nvSpPr>
          <p:cNvPr id="22" name="Shape 19"/>
          <p:cNvSpPr/>
          <p:nvPr/>
        </p:nvSpPr>
        <p:spPr>
          <a:xfrm>
            <a:off x="5765502" y="1944128"/>
            <a:ext cx="52388" cy="52388"/>
          </a:xfrm>
          <a:prstGeom prst="ellipse">
            <a:avLst/>
          </a:prstGeom>
          <a:solidFill>
            <a:srgbClr val="F5C45B"/>
          </a:solidFill>
          <a:ln/>
        </p:spPr>
      </p:sp>
      <p:sp>
        <p:nvSpPr>
          <p:cNvPr id="23" name="Shape 20"/>
          <p:cNvSpPr/>
          <p:nvPr/>
        </p:nvSpPr>
        <p:spPr>
          <a:xfrm>
            <a:off x="5856752" y="1940941"/>
            <a:ext cx="52388" cy="5238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4" name="Shape 21"/>
          <p:cNvSpPr/>
          <p:nvPr/>
        </p:nvSpPr>
        <p:spPr>
          <a:xfrm>
            <a:off x="6004193" y="1892900"/>
            <a:ext cx="2238375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5098"/>
            </a:srgbClr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9665" y="2025364"/>
            <a:ext cx="2695575" cy="2005012"/>
          </a:xfrm>
          <a:prstGeom prst="rect">
            <a:avLst/>
          </a:prstGeom>
        </p:spPr>
      </p:pic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8425" y="4093537"/>
            <a:ext cx="2276475" cy="1143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57200" y="224730"/>
            <a:ext cx="153608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08" kern="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PRODUCT</a:t>
            </a:r>
            <a:endParaRPr lang="en-US" sz="1080" dirty="0"/>
          </a:p>
        </p:txBody>
      </p:sp>
      <p:sp>
        <p:nvSpPr>
          <p:cNvPr id="28" name="Text 23"/>
          <p:cNvSpPr/>
          <p:nvPr/>
        </p:nvSpPr>
        <p:spPr>
          <a:xfrm>
            <a:off x="6217295" y="224730"/>
            <a:ext cx="326750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at my-credit-scoring-1.vercel.app</a:t>
            </a:r>
            <a:endParaRPr lang="en-US" sz="1080" dirty="0"/>
          </a:p>
        </p:txBody>
      </p:sp>
      <p:sp>
        <p:nvSpPr>
          <p:cNvPr id="29" name="Shape 24"/>
          <p:cNvSpPr/>
          <p:nvPr/>
        </p:nvSpPr>
        <p:spPr>
          <a:xfrm>
            <a:off x="457200" y="4624015"/>
            <a:ext cx="8229600" cy="314325"/>
          </a:xfrm>
          <a:prstGeom prst="rect">
            <a:avLst/>
          </a:prstGeom>
          <a:ln/>
        </p:spPr>
      </p:sp>
      <p:sp>
        <p:nvSpPr>
          <p:cNvPr id="30" name="Text 25"/>
          <p:cNvSpPr/>
          <p:nvPr/>
        </p:nvSpPr>
        <p:spPr>
          <a:xfrm>
            <a:off x="457200" y="4751189"/>
            <a:ext cx="194180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Scoring System</a:t>
            </a:r>
            <a:endParaRPr lang="en-US" sz="1080" dirty="0"/>
          </a:p>
        </p:txBody>
      </p:sp>
      <p:sp>
        <p:nvSpPr>
          <p:cNvPr id="31" name="Text 26"/>
          <p:cNvSpPr/>
          <p:nvPr/>
        </p:nvSpPr>
        <p:spPr>
          <a:xfrm>
            <a:off x="8515201" y="4751189"/>
            <a:ext cx="28022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08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4624015"/>
            <a:ext cx="8229600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490" y="723900"/>
            <a:ext cx="3606091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40" b="1" spc="-109" kern="0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What's Been Built</a:t>
            </a:r>
            <a:endParaRPr lang="en-US" sz="2740" dirty="0"/>
          </a:p>
        </p:txBody>
      </p:sp>
      <p:sp>
        <p:nvSpPr>
          <p:cNvPr id="4" name="Shape 1"/>
          <p:cNvSpPr/>
          <p:nvPr/>
        </p:nvSpPr>
        <p:spPr>
          <a:xfrm>
            <a:off x="732458" y="1444675"/>
            <a:ext cx="2466975" cy="1524000"/>
          </a:xfrm>
          <a:prstGeom prst="roundRect">
            <a:avLst>
              <a:gd name="adj" fmla="val 6000"/>
            </a:avLst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274320" dist="137160" dir="5400000">
              <a:srgbClr val="000000">
                <a:alpha val="1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00782" y="1614190"/>
            <a:ext cx="228600" cy="228600"/>
          </a:xfrm>
          <a:prstGeom prst="roundRect">
            <a:avLst>
              <a:gd name="adj" fmla="val 26000"/>
            </a:avLst>
          </a:prstGeom>
          <a:solidFill>
            <a:srgbClr val="14B5A8">
              <a:alpha val="14902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77354" y="1635175"/>
            <a:ext cx="15524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900782" y="2201838"/>
            <a:ext cx="68749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00" b="1" spc="-92" kern="0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25+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900782" y="2612529"/>
            <a:ext cx="239870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Meaningful GitHub commits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3338513" y="1444675"/>
            <a:ext cx="2466975" cy="1524000"/>
          </a:xfrm>
          <a:prstGeom prst="roundRect">
            <a:avLst>
              <a:gd name="adj" fmla="val 6000"/>
            </a:avLst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274320" dist="13716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06837" y="1614190"/>
            <a:ext cx="228600" cy="228600"/>
          </a:xfrm>
          <a:prstGeom prst="roundRect">
            <a:avLst>
              <a:gd name="adj" fmla="val 26000"/>
            </a:avLst>
          </a:prstGeom>
          <a:solidFill>
            <a:srgbClr val="F8C35E">
              <a:alpha val="14902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579391" y="1635175"/>
            <a:ext cx="16559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F5C4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3506837" y="1996157"/>
            <a:ext cx="28235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00" b="1" spc="-92" kern="0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506837" y="2406848"/>
            <a:ext cx="2425593" cy="37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contract unit tests (all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passing)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5944567" y="1444675"/>
            <a:ext cx="2466975" cy="1524000"/>
          </a:xfrm>
          <a:prstGeom prst="roundRect">
            <a:avLst>
              <a:gd name="adj" fmla="val 6000"/>
            </a:avLst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274320" dist="137160" dir="5400000">
              <a:srgbClr val="00000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12892" y="1614190"/>
            <a:ext cx="228600" cy="228600"/>
          </a:xfrm>
          <a:prstGeom prst="roundRect">
            <a:avLst>
              <a:gd name="adj" fmla="val 26000"/>
            </a:avLst>
          </a:prstGeom>
          <a:solidFill>
            <a:srgbClr val="F87265">
              <a:alpha val="14902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169670" y="1635175"/>
            <a:ext cx="20661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F9736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↗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6112892" y="2201838"/>
            <a:ext cx="28235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00" b="1" spc="-92" kern="0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6112892" y="2612529"/>
            <a:ext cx="252271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PostHog analytics events live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732458" y="3105373"/>
            <a:ext cx="2466975" cy="1524000"/>
          </a:xfrm>
          <a:prstGeom prst="roundRect">
            <a:avLst>
              <a:gd name="adj" fmla="val 6000"/>
            </a:avLst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274320" dist="137160" dir="540000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00782" y="3274888"/>
            <a:ext cx="228600" cy="228600"/>
          </a:xfrm>
          <a:prstGeom prst="roundRect">
            <a:avLst>
              <a:gd name="adj" fmla="val 26000"/>
            </a:avLst>
          </a:prstGeom>
          <a:solidFill>
            <a:srgbClr val="14B5A8">
              <a:alpha val="14902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975271" y="3295873"/>
            <a:ext cx="16056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900782" y="3862536"/>
            <a:ext cx="1209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00" b="1" spc="-92" kern="0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Sentry</a:t>
            </a:r>
            <a:endParaRPr lang="en-US" sz="2300" dirty="0"/>
          </a:p>
        </p:txBody>
      </p:sp>
      <p:sp>
        <p:nvSpPr>
          <p:cNvPr id="23" name="Text 20"/>
          <p:cNvSpPr/>
          <p:nvPr/>
        </p:nvSpPr>
        <p:spPr>
          <a:xfrm>
            <a:off x="900782" y="4273228"/>
            <a:ext cx="197866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monitoring active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3338513" y="3105373"/>
            <a:ext cx="2466975" cy="1524000"/>
          </a:xfrm>
          <a:prstGeom prst="roundRect">
            <a:avLst>
              <a:gd name="adj" fmla="val 6000"/>
            </a:avLst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274320" dist="137160" dir="5400000">
              <a:srgbClr val="000000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506837" y="3274888"/>
            <a:ext cx="228600" cy="228600"/>
          </a:xfrm>
          <a:prstGeom prst="roundRect">
            <a:avLst>
              <a:gd name="adj" fmla="val 26000"/>
            </a:avLst>
          </a:prstGeom>
          <a:solidFill>
            <a:srgbClr val="F8C35E">
              <a:alpha val="14902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3563615" y="3295873"/>
            <a:ext cx="20661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F5C4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↔</a:t>
            </a:r>
            <a:endParaRPr lang="en-US" sz="1080" dirty="0"/>
          </a:p>
        </p:txBody>
      </p:sp>
      <p:sp>
        <p:nvSpPr>
          <p:cNvPr id="27" name="Text 24"/>
          <p:cNvSpPr/>
          <p:nvPr/>
        </p:nvSpPr>
        <p:spPr>
          <a:xfrm>
            <a:off x="3506837" y="3862536"/>
            <a:ext cx="109486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00" b="1" spc="-92" kern="0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375px</a:t>
            </a:r>
            <a:endParaRPr lang="en-US" sz="2300" dirty="0"/>
          </a:p>
        </p:txBody>
      </p:sp>
      <p:sp>
        <p:nvSpPr>
          <p:cNvPr id="28" name="Text 25"/>
          <p:cNvSpPr/>
          <p:nvPr/>
        </p:nvSpPr>
        <p:spPr>
          <a:xfrm>
            <a:off x="3506837" y="4273228"/>
            <a:ext cx="217078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responsive tested</a:t>
            </a:r>
            <a:endParaRPr lang="en-US" sz="1080" dirty="0"/>
          </a:p>
        </p:txBody>
      </p:sp>
      <p:sp>
        <p:nvSpPr>
          <p:cNvPr id="29" name="Shape 26"/>
          <p:cNvSpPr/>
          <p:nvPr/>
        </p:nvSpPr>
        <p:spPr>
          <a:xfrm>
            <a:off x="5944567" y="3105373"/>
            <a:ext cx="2466975" cy="1524000"/>
          </a:xfrm>
          <a:prstGeom prst="roundRect">
            <a:avLst>
              <a:gd name="adj" fmla="val 6000"/>
            </a:avLst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274320" dist="137160" dir="5400000">
              <a:srgbClr val="000000">
                <a:alpha val="16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112892" y="3274888"/>
            <a:ext cx="228600" cy="228600"/>
          </a:xfrm>
          <a:prstGeom prst="roundRect">
            <a:avLst>
              <a:gd name="adj" fmla="val 26000"/>
            </a:avLst>
          </a:prstGeom>
          <a:solidFill>
            <a:srgbClr val="F87265">
              <a:alpha val="14902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6167289" y="3295873"/>
            <a:ext cx="21280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F9736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◎</a:t>
            </a:r>
            <a:endParaRPr lang="en-US" sz="1080" dirty="0"/>
          </a:p>
        </p:txBody>
      </p:sp>
      <p:sp>
        <p:nvSpPr>
          <p:cNvPr id="32" name="Text 29"/>
          <p:cNvSpPr/>
          <p:nvPr/>
        </p:nvSpPr>
        <p:spPr>
          <a:xfrm>
            <a:off x="6112892" y="3862536"/>
            <a:ext cx="76092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00" b="1" spc="-92" kern="0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SEO</a:t>
            </a:r>
            <a:endParaRPr lang="en-US" sz="2300" dirty="0"/>
          </a:p>
        </p:txBody>
      </p:sp>
      <p:sp>
        <p:nvSpPr>
          <p:cNvPr id="33" name="Text 30"/>
          <p:cNvSpPr/>
          <p:nvPr/>
        </p:nvSpPr>
        <p:spPr>
          <a:xfrm>
            <a:off x="6112892" y="4273228"/>
            <a:ext cx="268591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OpenGraph + Twitter Card SEO</a:t>
            </a:r>
            <a:endParaRPr lang="en-US" sz="1080" dirty="0"/>
          </a:p>
        </p:txBody>
      </p:sp>
      <p:sp>
        <p:nvSpPr>
          <p:cNvPr id="34" name="Text 31"/>
          <p:cNvSpPr/>
          <p:nvPr/>
        </p:nvSpPr>
        <p:spPr>
          <a:xfrm>
            <a:off x="457200" y="224730"/>
            <a:ext cx="161454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08" kern="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TRACTION</a:t>
            </a:r>
            <a:endParaRPr lang="en-US" sz="1080" dirty="0"/>
          </a:p>
        </p:txBody>
      </p:sp>
      <p:sp>
        <p:nvSpPr>
          <p:cNvPr id="35" name="Text 32"/>
          <p:cNvSpPr/>
          <p:nvPr/>
        </p:nvSpPr>
        <p:spPr>
          <a:xfrm>
            <a:off x="6505426" y="224730"/>
            <a:ext cx="289293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in the product, not the pitch</a:t>
            </a:r>
            <a:endParaRPr lang="en-US" sz="1080" dirty="0"/>
          </a:p>
        </p:txBody>
      </p:sp>
      <p:sp>
        <p:nvSpPr>
          <p:cNvPr id="36" name="Shape 33"/>
          <p:cNvSpPr/>
          <p:nvPr/>
        </p:nvSpPr>
        <p:spPr>
          <a:xfrm>
            <a:off x="457200" y="4624015"/>
            <a:ext cx="8229600" cy="314325"/>
          </a:xfrm>
          <a:prstGeom prst="rect">
            <a:avLst/>
          </a:prstGeom>
          <a:ln/>
        </p:spPr>
      </p:sp>
      <p:sp>
        <p:nvSpPr>
          <p:cNvPr id="37" name="Text 34"/>
          <p:cNvSpPr/>
          <p:nvPr/>
        </p:nvSpPr>
        <p:spPr>
          <a:xfrm>
            <a:off x="457200" y="4751189"/>
            <a:ext cx="194180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Scoring System</a:t>
            </a:r>
            <a:endParaRPr lang="en-US" sz="1080" dirty="0"/>
          </a:p>
        </p:txBody>
      </p:sp>
      <p:sp>
        <p:nvSpPr>
          <p:cNvPr id="38" name="Text 35"/>
          <p:cNvSpPr/>
          <p:nvPr/>
        </p:nvSpPr>
        <p:spPr>
          <a:xfrm>
            <a:off x="8525321" y="4751189"/>
            <a:ext cx="26707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080" dirty="0"/>
          </a:p>
        </p:txBody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624015"/>
            <a:ext cx="8229600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490" y="723900"/>
            <a:ext cx="4962265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40" b="1" spc="-109" kern="0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 → 500 → 5000 Users</a:t>
            </a:r>
            <a:endParaRPr lang="en-US" sz="2740" dirty="0"/>
          </a:p>
        </p:txBody>
      </p:sp>
      <p:sp>
        <p:nvSpPr>
          <p:cNvPr id="4" name="Shape 1"/>
          <p:cNvSpPr/>
          <p:nvPr/>
        </p:nvSpPr>
        <p:spPr>
          <a:xfrm>
            <a:off x="1462088" y="1774031"/>
            <a:ext cx="6219825" cy="4763"/>
          </a:xfrm>
          <a:prstGeom prst="rect">
            <a:avLst/>
          </a:prstGeom>
          <a:solidFill>
            <a:srgbClr val="14B8A6">
              <a:alpha val="45098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32458" y="1495871"/>
            <a:ext cx="2466975" cy="3133725"/>
          </a:xfrm>
          <a:prstGeom prst="roundRect">
            <a:avLst>
              <a:gd name="adj" fmla="val 3707"/>
            </a:avLst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274320" dist="137160" dir="54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9088" y="1805806"/>
            <a:ext cx="88029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2649364" y="1707728"/>
            <a:ext cx="52962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</a:t>
            </a:r>
            <a:endParaRPr lang="en-US" sz="2160" dirty="0"/>
          </a:p>
        </p:txBody>
      </p:sp>
      <p:sp>
        <p:nvSpPr>
          <p:cNvPr id="8" name="Text 5"/>
          <p:cNvSpPr/>
          <p:nvPr/>
        </p:nvSpPr>
        <p:spPr>
          <a:xfrm>
            <a:off x="919088" y="2320082"/>
            <a:ext cx="67521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0"/>
              </a:spcBef>
              <a:buNone/>
            </a:pPr>
            <a:r>
              <a:rPr lang="en-US" sz="148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Done</a:t>
            </a:r>
            <a:endParaRPr lang="en-US" sz="1480" dirty="0"/>
          </a:p>
        </p:txBody>
      </p:sp>
      <p:sp>
        <p:nvSpPr>
          <p:cNvPr id="9" name="Text 6"/>
          <p:cNvSpPr/>
          <p:nvPr/>
        </p:nvSpPr>
        <p:spPr>
          <a:xfrm>
            <a:off x="919088" y="2694533"/>
            <a:ext cx="2718614" cy="55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Testnet bootstrap,</a:t>
            </a:r>
            <a:endParaRPr lang="en-US" sz="1080" dirty="0"/>
          </a:p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programmatic wallets, on-chain</a:t>
            </a:r>
            <a:endParaRPr lang="en-US" sz="1080" dirty="0"/>
          </a:p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interactions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919088" y="4254922"/>
            <a:ext cx="172037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829"/>
              </a:spcBef>
              <a:buNone/>
            </a:pPr>
            <a:r>
              <a:rPr lang="en-US" sz="108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shipped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3338513" y="1495871"/>
            <a:ext cx="2466975" cy="3133725"/>
          </a:xfrm>
          <a:prstGeom prst="roundRect">
            <a:avLst>
              <a:gd name="adj" fmla="val 3707"/>
            </a:avLst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274320" dist="137160" dir="5400000">
              <a:srgbClr val="000000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525143" y="1805806"/>
            <a:ext cx="91570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5062314" y="1707728"/>
            <a:ext cx="780656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500</a:t>
            </a:r>
            <a:endParaRPr lang="en-US" sz="2160" dirty="0"/>
          </a:p>
        </p:txBody>
      </p:sp>
      <p:sp>
        <p:nvSpPr>
          <p:cNvPr id="14" name="Text 11"/>
          <p:cNvSpPr/>
          <p:nvPr/>
        </p:nvSpPr>
        <p:spPr>
          <a:xfrm>
            <a:off x="3525143" y="2320082"/>
            <a:ext cx="100209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0"/>
              </a:spcBef>
              <a:buNone/>
            </a:pPr>
            <a:r>
              <a:rPr lang="en-US" sz="148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 days</a:t>
            </a:r>
            <a:endParaRPr lang="en-US" sz="1480" dirty="0"/>
          </a:p>
        </p:txBody>
      </p:sp>
      <p:sp>
        <p:nvSpPr>
          <p:cNvPr id="15" name="Text 12"/>
          <p:cNvSpPr/>
          <p:nvPr/>
        </p:nvSpPr>
        <p:spPr>
          <a:xfrm>
            <a:off x="3525143" y="2694533"/>
            <a:ext cx="2656895" cy="358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Stellar Discord, "Rate a Friend"</a:t>
            </a:r>
            <a:endParaRPr lang="en-US" sz="1080" dirty="0"/>
          </a:p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campaign, leaderboard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3525143" y="4254922"/>
            <a:ext cx="143896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341"/>
              </a:spcBef>
              <a:buNone/>
            </a:pPr>
            <a:r>
              <a:rPr lang="en-US" sz="1080" dirty="0">
                <a:solidFill>
                  <a:srgbClr val="F5C4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loop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5944567" y="1495871"/>
            <a:ext cx="2466975" cy="3133725"/>
          </a:xfrm>
          <a:prstGeom prst="roundRect">
            <a:avLst>
              <a:gd name="adj" fmla="val 3707"/>
            </a:avLst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274320" dist="137160" dir="5400000">
              <a:srgbClr val="000000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131198" y="1805806"/>
            <a:ext cx="91850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7475265" y="1707728"/>
            <a:ext cx="1031691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5000</a:t>
            </a:r>
            <a:endParaRPr lang="en-US" sz="2160" dirty="0"/>
          </a:p>
        </p:txBody>
      </p:sp>
      <p:sp>
        <p:nvSpPr>
          <p:cNvPr id="20" name="Text 17"/>
          <p:cNvSpPr/>
          <p:nvPr/>
        </p:nvSpPr>
        <p:spPr>
          <a:xfrm>
            <a:off x="6131198" y="2320082"/>
            <a:ext cx="15052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0"/>
              </a:spcBef>
              <a:buNone/>
            </a:pPr>
            <a:r>
              <a:rPr lang="en-US" sz="148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60–90 days</a:t>
            </a:r>
            <a:endParaRPr lang="en-US" sz="1480" dirty="0"/>
          </a:p>
        </p:txBody>
      </p:sp>
      <p:sp>
        <p:nvSpPr>
          <p:cNvPr id="21" name="Text 18"/>
          <p:cNvSpPr/>
          <p:nvPr/>
        </p:nvSpPr>
        <p:spPr>
          <a:xfrm>
            <a:off x="6131198" y="2694533"/>
            <a:ext cx="2576505" cy="55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Lending protocol pitch, Stellar</a:t>
            </a:r>
            <a:endParaRPr lang="en-US" sz="1080" dirty="0"/>
          </a:p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Fund grant,</a:t>
            </a:r>
            <a:endParaRPr lang="en-US" sz="1080" dirty="0"/>
          </a:p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evaluator staking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6131198" y="4254922"/>
            <a:ext cx="175287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829"/>
              </a:spcBef>
              <a:buNone/>
            </a:pPr>
            <a:r>
              <a:rPr lang="en-US" sz="1080" dirty="0">
                <a:solidFill>
                  <a:srgbClr val="F973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 distribution</a:t>
            </a:r>
            <a:endParaRPr lang="en-US" sz="108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8195" y="4127748"/>
            <a:ext cx="2095500" cy="314325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24250" y="4127748"/>
            <a:ext cx="2095500" cy="314325"/>
          </a:xfrm>
          <a:prstGeom prst="rect">
            <a:avLst/>
          </a:prstGeom>
        </p:spPr>
      </p:pic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30305" y="4127748"/>
            <a:ext cx="2095500" cy="31432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57200" y="224730"/>
            <a:ext cx="260630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08" kern="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GROWTH STRATEGY</a:t>
            </a:r>
            <a:endParaRPr lang="en-US" sz="1080" dirty="0"/>
          </a:p>
        </p:txBody>
      </p:sp>
      <p:sp>
        <p:nvSpPr>
          <p:cNvPr id="27" name="Text 21"/>
          <p:cNvSpPr/>
          <p:nvPr/>
        </p:nvSpPr>
        <p:spPr>
          <a:xfrm>
            <a:off x="6251600" y="224730"/>
            <a:ext cx="322291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protocol proof to network effect</a:t>
            </a:r>
            <a:endParaRPr lang="en-US" sz="1080" dirty="0"/>
          </a:p>
        </p:txBody>
      </p:sp>
      <p:sp>
        <p:nvSpPr>
          <p:cNvPr id="28" name="Shape 22"/>
          <p:cNvSpPr/>
          <p:nvPr/>
        </p:nvSpPr>
        <p:spPr>
          <a:xfrm>
            <a:off x="457200" y="4624015"/>
            <a:ext cx="8229600" cy="314325"/>
          </a:xfrm>
          <a:prstGeom prst="rect">
            <a:avLst/>
          </a:prstGeom>
          <a:ln/>
        </p:spPr>
      </p:sp>
      <p:sp>
        <p:nvSpPr>
          <p:cNvPr id="29" name="Text 23"/>
          <p:cNvSpPr/>
          <p:nvPr/>
        </p:nvSpPr>
        <p:spPr>
          <a:xfrm>
            <a:off x="457200" y="4751189"/>
            <a:ext cx="194180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Scoring System</a:t>
            </a:r>
            <a:endParaRPr lang="en-US" sz="1080" dirty="0"/>
          </a:p>
        </p:txBody>
      </p:sp>
      <p:sp>
        <p:nvSpPr>
          <p:cNvPr id="30" name="Text 24"/>
          <p:cNvSpPr/>
          <p:nvPr/>
        </p:nvSpPr>
        <p:spPr>
          <a:xfrm>
            <a:off x="8515424" y="4751189"/>
            <a:ext cx="27993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08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7200" y="4624015"/>
            <a:ext cx="8229600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490" y="723900"/>
            <a:ext cx="6053182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40" b="1" spc="-109" kern="0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Building the DeFi Credit Layer</a:t>
            </a:r>
            <a:endParaRPr lang="en-US" sz="2740" dirty="0"/>
          </a:p>
        </p:txBody>
      </p:sp>
      <p:sp>
        <p:nvSpPr>
          <p:cNvPr id="4" name="Shape 1"/>
          <p:cNvSpPr/>
          <p:nvPr/>
        </p:nvSpPr>
        <p:spPr>
          <a:xfrm>
            <a:off x="840581" y="1629966"/>
            <a:ext cx="7462837" cy="4763"/>
          </a:xfrm>
          <a:prstGeom prst="rect">
            <a:avLst/>
          </a:prstGeom>
          <a:solidFill>
            <a:srgbClr val="14B8A6">
              <a:alpha val="45098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31676" y="1547924"/>
            <a:ext cx="219075" cy="219075"/>
          </a:xfrm>
          <a:prstGeom prst="ellipse">
            <a:avLst/>
          </a:prstGeom>
          <a:solidFill>
            <a:srgbClr val="0F172A"/>
          </a:solidFill>
          <a:ln w="28575">
            <a:solidFill>
              <a:srgbClr val="14B8A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490" y="1905298"/>
            <a:ext cx="78916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013"/>
              </a:spcBef>
              <a:buNone/>
            </a:pPr>
            <a:r>
              <a:rPr lang="en-US" sz="1080" b="1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Q3 2026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731490" y="2153617"/>
            <a:ext cx="179050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08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Score badge widget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731490" y="2318147"/>
            <a:ext cx="170760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08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 evaluator staking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2309031" y="1547924"/>
            <a:ext cx="219075" cy="219075"/>
          </a:xfrm>
          <a:prstGeom prst="ellipse">
            <a:avLst/>
          </a:prstGeom>
          <a:solidFill>
            <a:srgbClr val="0F172A"/>
          </a:solidFill>
          <a:ln w="28575">
            <a:solidFill>
              <a:srgbClr val="14B8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08845" y="1905298"/>
            <a:ext cx="79758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013"/>
              </a:spcBef>
              <a:buNone/>
            </a:pPr>
            <a:r>
              <a:rPr lang="en-US" sz="1080" b="1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Q4 2026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2308845" y="2153617"/>
            <a:ext cx="112746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08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 lending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2308845" y="2318147"/>
            <a:ext cx="180704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08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protocol integration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3886386" y="1547924"/>
            <a:ext cx="219075" cy="219075"/>
          </a:xfrm>
          <a:prstGeom prst="ellipse">
            <a:avLst/>
          </a:prstGeom>
          <a:solidFill>
            <a:srgbClr val="0F172A"/>
          </a:solidFill>
          <a:ln w="28575">
            <a:solidFill>
              <a:srgbClr val="F5C4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86200" y="1905298"/>
            <a:ext cx="72783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013"/>
              </a:spcBef>
              <a:buNone/>
            </a:pPr>
            <a:r>
              <a:rPr lang="en-US" sz="1080" b="1" dirty="0">
                <a:solidFill>
                  <a:srgbClr val="F5C4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Q1 2027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3886200" y="2153617"/>
            <a:ext cx="151306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08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Multi-chain EVM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3886200" y="2318147"/>
            <a:ext cx="6223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08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bridge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5463741" y="1547924"/>
            <a:ext cx="219075" cy="219075"/>
          </a:xfrm>
          <a:prstGeom prst="ellipse">
            <a:avLst/>
          </a:prstGeom>
          <a:solidFill>
            <a:srgbClr val="0F172A"/>
          </a:solidFill>
          <a:ln w="28575">
            <a:solidFill>
              <a:srgbClr val="F9736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63555" y="1905298"/>
            <a:ext cx="76585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013"/>
              </a:spcBef>
              <a:buNone/>
            </a:pPr>
            <a:r>
              <a:rPr lang="en-US" sz="1080" b="1" dirty="0">
                <a:solidFill>
                  <a:srgbClr val="F9736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Q2 2027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5463555" y="2153617"/>
            <a:ext cx="162943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08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ZK-proof of credit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5463555" y="2318147"/>
            <a:ext cx="58979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08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score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5463555" y="2482676"/>
            <a:ext cx="106584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08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(privacy-preserving)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7041096" y="1547924"/>
            <a:ext cx="219075" cy="219075"/>
          </a:xfrm>
          <a:prstGeom prst="ellipse">
            <a:avLst/>
          </a:prstGeom>
          <a:solidFill>
            <a:srgbClr val="0F172A"/>
          </a:solidFill>
          <a:ln w="28575">
            <a:solidFill>
              <a:srgbClr val="F9736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40910" y="1905298"/>
            <a:ext cx="77049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013"/>
              </a:spcBef>
              <a:buNone/>
            </a:pPr>
            <a:r>
              <a:rPr lang="en-US" sz="1080" b="1" dirty="0">
                <a:solidFill>
                  <a:srgbClr val="F9736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Q3 2027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7040910" y="2153617"/>
            <a:ext cx="150067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08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DAO governance</a:t>
            </a: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731044" y="3739642"/>
            <a:ext cx="7681912" cy="890587"/>
          </a:xfrm>
          <a:prstGeom prst="rect">
            <a:avLst/>
          </a:prstGeom>
          <a:ln/>
        </p:spPr>
      </p:sp>
      <p:sp>
        <p:nvSpPr>
          <p:cNvPr id="26" name="Text 23"/>
          <p:cNvSpPr/>
          <p:nvPr/>
        </p:nvSpPr>
        <p:spPr>
          <a:xfrm>
            <a:off x="731490" y="3918793"/>
            <a:ext cx="176767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MODEL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731825" y="4209157"/>
            <a:ext cx="1762125" cy="419100"/>
          </a:xfrm>
          <a:prstGeom prst="roundRect">
            <a:avLst>
              <a:gd name="adj" fmla="val 21818"/>
            </a:avLst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274320" dist="137160" dir="5400000">
              <a:srgbClr val="000000">
                <a:alpha val="16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1057428" y="4325392"/>
            <a:ext cx="111092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Protocol fee</a:t>
            </a:r>
            <a:endParaRPr lang="en-US" sz="1080" dirty="0"/>
          </a:p>
        </p:txBody>
      </p:sp>
      <p:sp>
        <p:nvSpPr>
          <p:cNvPr id="29" name="Text 26"/>
          <p:cNvSpPr/>
          <p:nvPr/>
        </p:nvSpPr>
        <p:spPr>
          <a:xfrm>
            <a:off x="2585665" y="4325392"/>
            <a:ext cx="9245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·</a:t>
            </a:r>
            <a:endParaRPr lang="en-US" sz="1080" dirty="0"/>
          </a:p>
        </p:txBody>
      </p:sp>
      <p:sp>
        <p:nvSpPr>
          <p:cNvPr id="30" name="Shape 27"/>
          <p:cNvSpPr/>
          <p:nvPr/>
        </p:nvSpPr>
        <p:spPr>
          <a:xfrm>
            <a:off x="2704542" y="4209157"/>
            <a:ext cx="1762125" cy="419100"/>
          </a:xfrm>
          <a:prstGeom prst="roundRect">
            <a:avLst>
              <a:gd name="adj" fmla="val 21818"/>
            </a:avLst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274320" dist="137160" dir="5400000">
              <a:srgbClr val="000000">
                <a:alpha val="16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3002392" y="4325392"/>
            <a:ext cx="116635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Premium API</a:t>
            </a:r>
            <a:endParaRPr lang="en-US" sz="1080" dirty="0"/>
          </a:p>
        </p:txBody>
      </p:sp>
      <p:sp>
        <p:nvSpPr>
          <p:cNvPr id="32" name="Text 29"/>
          <p:cNvSpPr/>
          <p:nvPr/>
        </p:nvSpPr>
        <p:spPr>
          <a:xfrm>
            <a:off x="4558382" y="4325392"/>
            <a:ext cx="9245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·</a:t>
            </a:r>
            <a:endParaRPr lang="en-US" sz="1080" dirty="0"/>
          </a:p>
        </p:txBody>
      </p:sp>
      <p:sp>
        <p:nvSpPr>
          <p:cNvPr id="33" name="Shape 30"/>
          <p:cNvSpPr/>
          <p:nvPr/>
        </p:nvSpPr>
        <p:spPr>
          <a:xfrm>
            <a:off x="4677259" y="4209157"/>
            <a:ext cx="1762125" cy="419100"/>
          </a:xfrm>
          <a:prstGeom prst="roundRect">
            <a:avLst>
              <a:gd name="adj" fmla="val 21818"/>
            </a:avLst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274320" dist="137160" dir="5400000">
              <a:srgbClr val="000000">
                <a:alpha val="16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4777074" y="4325392"/>
            <a:ext cx="156249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Evaluator staking</a:t>
            </a:r>
            <a:endParaRPr lang="en-US" sz="1080" dirty="0"/>
          </a:p>
        </p:txBody>
      </p:sp>
      <p:sp>
        <p:nvSpPr>
          <p:cNvPr id="35" name="Text 32"/>
          <p:cNvSpPr/>
          <p:nvPr/>
        </p:nvSpPr>
        <p:spPr>
          <a:xfrm>
            <a:off x="6531099" y="4325392"/>
            <a:ext cx="9245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·</a:t>
            </a:r>
            <a:endParaRPr lang="en-US" sz="1080" dirty="0"/>
          </a:p>
        </p:txBody>
      </p:sp>
      <p:sp>
        <p:nvSpPr>
          <p:cNvPr id="36" name="Shape 33"/>
          <p:cNvSpPr/>
          <p:nvPr/>
        </p:nvSpPr>
        <p:spPr>
          <a:xfrm>
            <a:off x="6649975" y="4209157"/>
            <a:ext cx="1762125" cy="419100"/>
          </a:xfrm>
          <a:prstGeom prst="roundRect">
            <a:avLst>
              <a:gd name="adj" fmla="val 21818"/>
            </a:avLst>
          </a:prstGeom>
          <a:solidFill>
            <a:srgbClr val="FFFFFF">
              <a:alpha val="3500"/>
            </a:srgbClr>
          </a:solidFill>
          <a:ln w="4763">
            <a:solidFill>
              <a:srgbClr val="FFFFFF">
                <a:alpha val="9000"/>
              </a:srgbClr>
            </a:solidFill>
            <a:prstDash val="solid"/>
          </a:ln>
          <a:effectLst>
            <a:outerShdw sx="100000" sy="100000" kx="0" ky="0" algn="bl" rotWithShape="0" blurRad="274320" dist="137160" dir="5400000">
              <a:srgbClr val="000000">
                <a:alpha val="16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6565902" y="4325392"/>
            <a:ext cx="193019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White-label licensing</a:t>
            </a:r>
            <a:endParaRPr lang="en-US" sz="1080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044" y="3739642"/>
            <a:ext cx="7681912" cy="890587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457200" y="224730"/>
            <a:ext cx="158464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08" kern="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ROADMAP</a:t>
            </a:r>
            <a:endParaRPr lang="en-US" sz="1080" dirty="0"/>
          </a:p>
        </p:txBody>
      </p:sp>
      <p:sp>
        <p:nvSpPr>
          <p:cNvPr id="40" name="Text 36"/>
          <p:cNvSpPr/>
          <p:nvPr/>
        </p:nvSpPr>
        <p:spPr>
          <a:xfrm>
            <a:off x="6829946" y="224730"/>
            <a:ext cx="247106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the DeFi credit layer</a:t>
            </a:r>
            <a:endParaRPr lang="en-US" sz="1080" dirty="0"/>
          </a:p>
        </p:txBody>
      </p:sp>
      <p:sp>
        <p:nvSpPr>
          <p:cNvPr id="41" name="Shape 37"/>
          <p:cNvSpPr/>
          <p:nvPr/>
        </p:nvSpPr>
        <p:spPr>
          <a:xfrm>
            <a:off x="457200" y="4624015"/>
            <a:ext cx="8229600" cy="314325"/>
          </a:xfrm>
          <a:prstGeom prst="rect">
            <a:avLst/>
          </a:prstGeom>
          <a:ln/>
        </p:spPr>
      </p:sp>
      <p:sp>
        <p:nvSpPr>
          <p:cNvPr id="42" name="Text 38"/>
          <p:cNvSpPr/>
          <p:nvPr/>
        </p:nvSpPr>
        <p:spPr>
          <a:xfrm>
            <a:off x="457200" y="4751189"/>
            <a:ext cx="194180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Scoring System</a:t>
            </a:r>
            <a:endParaRPr lang="en-US" sz="1080" dirty="0"/>
          </a:p>
        </p:txBody>
      </p:sp>
      <p:sp>
        <p:nvSpPr>
          <p:cNvPr id="43" name="Text 39"/>
          <p:cNvSpPr/>
          <p:nvPr/>
        </p:nvSpPr>
        <p:spPr>
          <a:xfrm>
            <a:off x="8515201" y="4751189"/>
            <a:ext cx="28022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080" dirty="0"/>
          </a:p>
        </p:txBody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" y="4624015"/>
            <a:ext cx="8229600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00275" y="771823"/>
            <a:ext cx="4143375" cy="276225"/>
          </a:xfrm>
          <a:prstGeom prst="roundRect">
            <a:avLst>
              <a:gd name="adj" fmla="val 50000"/>
            </a:avLst>
          </a:prstGeom>
          <a:solidFill>
            <a:srgbClr val="14B8A6">
              <a:alpha val="10000"/>
            </a:srgbClr>
          </a:solidFill>
          <a:ln w="4763">
            <a:solidFill>
              <a:srgbClr val="14B8A6">
                <a:alpha val="2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596009" y="886123"/>
            <a:ext cx="47625" cy="47625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" name="Text 2"/>
          <p:cNvSpPr/>
          <p:nvPr/>
        </p:nvSpPr>
        <p:spPr>
          <a:xfrm>
            <a:off x="2086213" y="826145"/>
            <a:ext cx="506741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spc="54" kern="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TO BUILDERS, PROTOCOLS, AND EVALUATORS</a:t>
            </a:r>
            <a:endParaRPr lang="en-US" sz="1080" dirty="0"/>
          </a:p>
        </p:txBody>
      </p:sp>
      <p:sp>
        <p:nvSpPr>
          <p:cNvPr id="6" name="Text 3"/>
          <p:cNvSpPr/>
          <p:nvPr/>
        </p:nvSpPr>
        <p:spPr>
          <a:xfrm>
            <a:off x="685599" y="1150218"/>
            <a:ext cx="7772802" cy="504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1215"/>
              </a:spcBef>
              <a:buNone/>
            </a:pPr>
            <a:r>
              <a:rPr lang="en-US" sz="3060" b="1" spc="-153" kern="0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Let's Build the Credit Layer for DeFi</a:t>
            </a:r>
            <a:endParaRPr lang="en-US" sz="3060" dirty="0"/>
          </a:p>
        </p:txBody>
      </p:sp>
      <p:sp>
        <p:nvSpPr>
          <p:cNvPr id="7" name="Shape 4"/>
          <p:cNvSpPr/>
          <p:nvPr/>
        </p:nvSpPr>
        <p:spPr>
          <a:xfrm>
            <a:off x="1462088" y="1919064"/>
            <a:ext cx="6219825" cy="2586038"/>
          </a:xfrm>
          <a:prstGeom prst="roundRect">
            <a:avLst>
              <a:gd name="adj" fmla="val 3536"/>
            </a:avLst>
          </a:prstGeom>
          <a:solidFill>
            <a:srgbClr val="FFFFFF">
              <a:alpha val="3137"/>
            </a:srgbClr>
          </a:solidFill>
          <a:ln w="4763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66850" y="1923008"/>
            <a:ext cx="6210300" cy="361950"/>
          </a:xfrm>
          <a:prstGeom prst="rect">
            <a:avLst/>
          </a:prstGeom>
          <a:solidFill>
            <a:srgbClr val="FFFFFF">
              <a:alpha val="4314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604963" y="2017812"/>
            <a:ext cx="104184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6641038" y="2017812"/>
            <a:ext cx="89799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80" b="1" spc="8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DETAILS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1466850" y="2283023"/>
            <a:ext cx="6210300" cy="361950"/>
          </a:xfrm>
          <a:prstGeom prst="rect">
            <a:avLst/>
          </a:prstGeom>
          <a:ln/>
        </p:spPr>
      </p:sp>
      <p:sp>
        <p:nvSpPr>
          <p:cNvPr id="12" name="Text 9"/>
          <p:cNvSpPr/>
          <p:nvPr/>
        </p:nvSpPr>
        <p:spPr>
          <a:xfrm>
            <a:off x="1604963" y="2377827"/>
            <a:ext cx="64589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Builder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6506088" y="2364804"/>
            <a:ext cx="103294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0" b="1" dirty="0">
                <a:solidFill>
                  <a:srgbClr val="F8FA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Ankit Patel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1466850" y="2643039"/>
            <a:ext cx="6210300" cy="361950"/>
          </a:xfrm>
          <a:prstGeom prst="rect">
            <a:avLst/>
          </a:prstGeom>
          <a:ln/>
        </p:spPr>
      </p:sp>
      <p:sp>
        <p:nvSpPr>
          <p:cNvPr id="15" name="Text 12"/>
          <p:cNvSpPr/>
          <p:nvPr/>
        </p:nvSpPr>
        <p:spPr>
          <a:xfrm>
            <a:off x="1604963" y="2737842"/>
            <a:ext cx="50698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5076587" y="2737842"/>
            <a:ext cx="246245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80" u="sng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ankitpatel79600@gmail.com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1466850" y="3003054"/>
            <a:ext cx="6210300" cy="361950"/>
          </a:xfrm>
          <a:prstGeom prst="rect">
            <a:avLst/>
          </a:prstGeom>
          <a:ln/>
        </p:spPr>
      </p:sp>
      <p:sp>
        <p:nvSpPr>
          <p:cNvPr id="18" name="Text 15"/>
          <p:cNvSpPr/>
          <p:nvPr/>
        </p:nvSpPr>
        <p:spPr>
          <a:xfrm>
            <a:off x="1604963" y="3097857"/>
            <a:ext cx="63883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5632832" y="3097857"/>
            <a:ext cx="190620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80" u="sng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github.com/ankit7960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1466850" y="3364929"/>
            <a:ext cx="6210300" cy="414338"/>
          </a:xfrm>
          <a:prstGeom prst="rect">
            <a:avLst/>
          </a:prstGeom>
          <a:ln/>
        </p:spPr>
      </p:sp>
      <p:sp>
        <p:nvSpPr>
          <p:cNvPr id="21" name="Text 18"/>
          <p:cNvSpPr/>
          <p:nvPr/>
        </p:nvSpPr>
        <p:spPr>
          <a:xfrm>
            <a:off x="1604963" y="3485927"/>
            <a:ext cx="79332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App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5882417" y="3383087"/>
            <a:ext cx="165662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80" u="sng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my-credit-scoring-1.vercel.app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1466850" y="3779193"/>
            <a:ext cx="6210300" cy="361950"/>
          </a:xfrm>
          <a:prstGeom prst="rect">
            <a:avLst/>
          </a:prstGeom>
          <a:ln/>
        </p:spPr>
      </p:sp>
      <p:sp>
        <p:nvSpPr>
          <p:cNvPr id="24" name="Text 21"/>
          <p:cNvSpPr/>
          <p:nvPr/>
        </p:nvSpPr>
        <p:spPr>
          <a:xfrm>
            <a:off x="1604963" y="3873996"/>
            <a:ext cx="78539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5848945" y="3873996"/>
            <a:ext cx="169009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CAHR6ZKV...2WNR</a:t>
            </a:r>
            <a:endParaRPr lang="en-US" sz="1080" dirty="0"/>
          </a:p>
        </p:txBody>
      </p:sp>
      <p:sp>
        <p:nvSpPr>
          <p:cNvPr id="26" name="Text 23"/>
          <p:cNvSpPr/>
          <p:nvPr/>
        </p:nvSpPr>
        <p:spPr>
          <a:xfrm>
            <a:off x="1604963" y="4236393"/>
            <a:ext cx="55293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</a:t>
            </a:r>
            <a:endParaRPr lang="en-US" sz="1080" dirty="0"/>
          </a:p>
        </p:txBody>
      </p:sp>
      <p:sp>
        <p:nvSpPr>
          <p:cNvPr id="27" name="Text 24"/>
          <p:cNvSpPr/>
          <p:nvPr/>
        </p:nvSpPr>
        <p:spPr>
          <a:xfrm>
            <a:off x="5086067" y="4236393"/>
            <a:ext cx="245297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80" u="sng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loom.com/share/fe542c9d...</a:t>
            </a:r>
            <a:endParaRPr lang="en-US" sz="108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6850" y="1923008"/>
            <a:ext cx="6210300" cy="361950"/>
          </a:xfrm>
          <a:prstGeom prst="rect">
            <a:avLst/>
          </a:prstGeom>
        </p:spPr>
      </p:pic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66850" y="2283023"/>
            <a:ext cx="6210300" cy="361950"/>
          </a:xfrm>
          <a:prstGeom prst="rect">
            <a:avLst/>
          </a:prstGeom>
        </p:spPr>
      </p:pic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66850" y="2643039"/>
            <a:ext cx="6210300" cy="361950"/>
          </a:xfrm>
          <a:prstGeom prst="rect">
            <a:avLst/>
          </a:prstGeom>
        </p:spPr>
      </p:pic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66850" y="3003054"/>
            <a:ext cx="6210300" cy="361950"/>
          </a:xfrm>
          <a:prstGeom prst="rect">
            <a:avLst/>
          </a:prstGeom>
        </p:spPr>
      </p:pic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66850" y="3364929"/>
            <a:ext cx="6210300" cy="414338"/>
          </a:xfrm>
          <a:prstGeom prst="rect">
            <a:avLst/>
          </a:prstGeom>
        </p:spPr>
      </p:pic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466850" y="3779193"/>
            <a:ext cx="6210300" cy="36195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57200" y="224730"/>
            <a:ext cx="154566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08" kern="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CONTACT</a:t>
            </a:r>
            <a:endParaRPr lang="en-US" sz="1080" dirty="0"/>
          </a:p>
        </p:txBody>
      </p:sp>
      <p:sp>
        <p:nvSpPr>
          <p:cNvPr id="35" name="Text 26"/>
          <p:cNvSpPr/>
          <p:nvPr/>
        </p:nvSpPr>
        <p:spPr>
          <a:xfrm>
            <a:off x="6549405" y="224730"/>
            <a:ext cx="283576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Stellar Soroban · Next.js 16 · Rust</a:t>
            </a:r>
            <a:endParaRPr lang="en-US" sz="1080" dirty="0"/>
          </a:p>
        </p:txBody>
      </p:sp>
      <p:sp>
        <p:nvSpPr>
          <p:cNvPr id="36" name="Shape 27"/>
          <p:cNvSpPr/>
          <p:nvPr/>
        </p:nvSpPr>
        <p:spPr>
          <a:xfrm>
            <a:off x="457200" y="4624015"/>
            <a:ext cx="8229600" cy="314325"/>
          </a:xfrm>
          <a:prstGeom prst="rect">
            <a:avLst/>
          </a:prstGeom>
          <a:ln/>
        </p:spPr>
      </p:sp>
      <p:sp>
        <p:nvSpPr>
          <p:cNvPr id="37" name="Text 28"/>
          <p:cNvSpPr/>
          <p:nvPr/>
        </p:nvSpPr>
        <p:spPr>
          <a:xfrm>
            <a:off x="457200" y="4751189"/>
            <a:ext cx="523458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with Stellar Soroban · Next.js 16 · Rust · PostHog · Sentry</a:t>
            </a:r>
            <a:endParaRPr lang="en-US" sz="1080" dirty="0"/>
          </a:p>
        </p:txBody>
      </p:sp>
      <p:sp>
        <p:nvSpPr>
          <p:cNvPr id="38" name="Text 29"/>
          <p:cNvSpPr/>
          <p:nvPr/>
        </p:nvSpPr>
        <p:spPr>
          <a:xfrm>
            <a:off x="8544446" y="4751189"/>
            <a:ext cx="24221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8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57200" y="4624015"/>
            <a:ext cx="8229600" cy="3143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2026-08-22T13:59:18Z</dcterms:created>
  <dcterms:modified xsi:type="dcterms:W3CDTF">2026-08-22T13:59:18Z</dcterms:modified>
</cp:coreProperties>
</file>